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4" r:id="rId18"/>
    <p:sldId id="275" r:id="rId19"/>
    <p:sldId id="276" r:id="rId20"/>
    <p:sldId id="286" r:id="rId21"/>
    <p:sldId id="287" r:id="rId22"/>
    <p:sldId id="288" r:id="rId23"/>
    <p:sldId id="289" r:id="rId24"/>
    <p:sldId id="290" r:id="rId25"/>
    <p:sldId id="291" r:id="rId26"/>
    <p:sldId id="292" r:id="rId27"/>
    <p:sldId id="293" r:id="rId28"/>
    <p:sldId id="294" r:id="rId29"/>
    <p:sldId id="295" r:id="rId30"/>
    <p:sldId id="296" r:id="rId31"/>
    <p:sldId id="297" r:id="rId32"/>
    <p:sldId id="298" r:id="rId33"/>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086" y="7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FA8BC4CB-BC5F-4B3B-AC57-CF307EA21634}" type="datetimeFigureOut">
              <a:rPr lang="en-IN" smtClean="0"/>
              <a:t>18-12-2025</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6B067170-E69A-4035-8ACC-DB9257586CFD}" type="slidenum">
              <a:rPr lang="en-IN" smtClean="0"/>
              <a:t>‹#›</a:t>
            </a:fld>
            <a:endParaRPr lang="en-IN"/>
          </a:p>
        </p:txBody>
      </p:sp>
    </p:spTree>
    <p:extLst>
      <p:ext uri="{BB962C8B-B14F-4D97-AF65-F5344CB8AC3E}">
        <p14:creationId xmlns:p14="http://schemas.microsoft.com/office/powerpoint/2010/main" val="38938690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B067170-E69A-4035-8ACC-DB9257586CFD}" type="slidenum">
              <a:rPr lang="en-IN" smtClean="0"/>
              <a:t>12</a:t>
            </a:fld>
            <a:endParaRPr lang="en-IN"/>
          </a:p>
        </p:txBody>
      </p:sp>
    </p:spTree>
    <p:extLst>
      <p:ext uri="{BB962C8B-B14F-4D97-AF65-F5344CB8AC3E}">
        <p14:creationId xmlns:p14="http://schemas.microsoft.com/office/powerpoint/2010/main" val="39767146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2400" b="1" i="0">
                <a:solidFill>
                  <a:schemeClr val="tx1"/>
                </a:solidFill>
                <a:latin typeface="Calibri"/>
                <a:cs typeface="Calibri"/>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12/18/2025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4000" cy="5143500"/>
          </a:xfrm>
          <a:prstGeom prst="rect">
            <a:avLst/>
          </a:prstGeom>
        </p:spPr>
      </p:pic>
      <p:sp>
        <p:nvSpPr>
          <p:cNvPr id="2" name="Holder 2"/>
          <p:cNvSpPr>
            <a:spLocks noGrp="1"/>
          </p:cNvSpPr>
          <p:nvPr>
            <p:ph type="title"/>
          </p:nvPr>
        </p:nvSpPr>
        <p:spPr/>
        <p:txBody>
          <a:bodyPr lIns="0" tIns="0" rIns="0" bIns="0"/>
          <a:lstStyle>
            <a:lvl1pPr>
              <a:defRPr sz="2400" b="1"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12/18/2025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12/18/2025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48792" y="-127254"/>
            <a:ext cx="8446414" cy="1048842"/>
          </a:xfrm>
          <a:prstGeom prst="rect">
            <a:avLst/>
          </a:prstGeom>
        </p:spPr>
        <p:txBody>
          <a:bodyPr wrap="square" lIns="0" tIns="0" rIns="0" bIns="0">
            <a:spAutoFit/>
          </a:bodyPr>
          <a:lstStyle>
            <a:lvl1pPr>
              <a:defRPr sz="2400" b="1" i="0">
                <a:solidFill>
                  <a:schemeClr val="tx1"/>
                </a:solidFill>
                <a:latin typeface="Calibri"/>
                <a:cs typeface="Calibri"/>
              </a:defRPr>
            </a:lvl1pPr>
          </a:lstStyle>
          <a:p>
            <a:endParaRPr/>
          </a:p>
        </p:txBody>
      </p:sp>
      <p:sp>
        <p:nvSpPr>
          <p:cNvPr id="3" name="Holder 3"/>
          <p:cNvSpPr>
            <a:spLocks noGrp="1"/>
          </p:cNvSpPr>
          <p:nvPr>
            <p:ph type="body" idx="1"/>
          </p:nvPr>
        </p:nvSpPr>
        <p:spPr>
          <a:xfrm>
            <a:off x="381736" y="1227582"/>
            <a:ext cx="8380526" cy="3317875"/>
          </a:xfrm>
          <a:prstGeom prst="rect">
            <a:avLst/>
          </a:prstGeom>
        </p:spPr>
        <p:txBody>
          <a:bodyPr wrap="square" lIns="0" tIns="0" rIns="0" bIns="0">
            <a:spAutoFit/>
          </a:bodyPr>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12/18/2025</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600200" y="2350215"/>
            <a:ext cx="6324600" cy="443070"/>
          </a:xfrm>
          <a:prstGeom prst="rect">
            <a:avLst/>
          </a:prstGeom>
        </p:spPr>
        <p:txBody>
          <a:bodyPr vert="horz" wrap="square" lIns="0" tIns="12065" rIns="0" bIns="0" rtlCol="0">
            <a:spAutoFit/>
          </a:bodyPr>
          <a:lstStyle/>
          <a:p>
            <a:pPr marL="579120" marR="5080" indent="-567055">
              <a:lnSpc>
                <a:spcPct val="100000"/>
              </a:lnSpc>
              <a:spcBef>
                <a:spcPts val="95"/>
              </a:spcBef>
            </a:pPr>
            <a:r>
              <a:rPr lang="en-IN" sz="2800" dirty="0"/>
              <a:t>EMPLOYEE MANAGEMENT SYSTEM</a:t>
            </a:r>
            <a:endParaRPr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03733" rIns="0" bIns="0" rtlCol="0">
            <a:spAutoFit/>
          </a:bodyPr>
          <a:lstStyle/>
          <a:p>
            <a:pPr marL="2084070">
              <a:lnSpc>
                <a:spcPct val="100000"/>
              </a:lnSpc>
              <a:spcBef>
                <a:spcPts val="95"/>
              </a:spcBef>
            </a:pPr>
            <a:r>
              <a:rPr sz="4000" spc="-10" dirty="0"/>
              <a:t>INTRODUCTION</a:t>
            </a:r>
            <a:endParaRPr sz="4000"/>
          </a:p>
        </p:txBody>
      </p:sp>
      <p:sp>
        <p:nvSpPr>
          <p:cNvPr id="3" name="object 3"/>
          <p:cNvSpPr txBox="1"/>
          <p:nvPr/>
        </p:nvSpPr>
        <p:spPr>
          <a:xfrm>
            <a:off x="231140" y="1227582"/>
            <a:ext cx="8524240" cy="2806666"/>
          </a:xfrm>
          <a:prstGeom prst="rect">
            <a:avLst/>
          </a:prstGeom>
        </p:spPr>
        <p:txBody>
          <a:bodyPr vert="horz" wrap="square" lIns="0" tIns="12700" rIns="0" bIns="0" rtlCol="0">
            <a:spAutoFit/>
          </a:bodyPr>
          <a:lstStyle/>
          <a:p>
            <a:pPr marL="12700" algn="just">
              <a:lnSpc>
                <a:spcPct val="150000"/>
              </a:lnSpc>
              <a:spcBef>
                <a:spcPts val="100"/>
              </a:spcBef>
              <a:buClr>
                <a:srgbClr val="FF0000"/>
              </a:buClr>
              <a:tabLst>
                <a:tab pos="299085" algn="l"/>
              </a:tabLst>
            </a:pPr>
            <a:r>
              <a:rPr lang="en-US" sz="2000" dirty="0"/>
              <a:t>The </a:t>
            </a:r>
            <a:r>
              <a:rPr lang="en-US" sz="2000" b="1" dirty="0"/>
              <a:t>Employee Management System (EMS)</a:t>
            </a:r>
            <a:r>
              <a:rPr lang="en-US" sz="2000" dirty="0"/>
              <a:t> is a robust, enterprise-grade application designed to streamline human resource operations. Built on the </a:t>
            </a:r>
            <a:r>
              <a:rPr lang="en-US" sz="2000" b="1" dirty="0"/>
              <a:t>Spring Boot framework</a:t>
            </a:r>
            <a:r>
              <a:rPr lang="en-US" sz="2000" dirty="0"/>
              <a:t>, it provides a secure environment for managing employee lifecycles—from recruitment to data maintenance—ensuring data integrity through strict validation and protecting sensitive information with role-based security</a:t>
            </a:r>
            <a:r>
              <a:rPr lang="en-US" sz="2400" dirty="0"/>
              <a:t>.</a:t>
            </a:r>
            <a:endParaRPr sz="2400" dirty="0">
              <a:latin typeface="Arial MT"/>
              <a:cs typeface="Arial M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14014" y="58877"/>
            <a:ext cx="2099945" cy="697230"/>
          </a:xfrm>
          <a:prstGeom prst="rect">
            <a:avLst/>
          </a:prstGeom>
        </p:spPr>
        <p:txBody>
          <a:bodyPr vert="horz" wrap="square" lIns="0" tIns="13335" rIns="0" bIns="0" rtlCol="0">
            <a:spAutoFit/>
          </a:bodyPr>
          <a:lstStyle/>
          <a:p>
            <a:pPr marL="12700">
              <a:lnSpc>
                <a:spcPct val="100000"/>
              </a:lnSpc>
              <a:spcBef>
                <a:spcPts val="105"/>
              </a:spcBef>
            </a:pPr>
            <a:r>
              <a:rPr sz="4400" spc="-50" dirty="0"/>
              <a:t>ABSTRAT</a:t>
            </a:r>
            <a:endParaRPr sz="4400"/>
          </a:p>
        </p:txBody>
      </p:sp>
      <p:sp>
        <p:nvSpPr>
          <p:cNvPr id="3" name="object 3"/>
          <p:cNvSpPr txBox="1"/>
          <p:nvPr/>
        </p:nvSpPr>
        <p:spPr>
          <a:xfrm>
            <a:off x="401320" y="1123950"/>
            <a:ext cx="8341359" cy="3090590"/>
          </a:xfrm>
          <a:prstGeom prst="rect">
            <a:avLst/>
          </a:prstGeom>
        </p:spPr>
        <p:txBody>
          <a:bodyPr vert="horz" wrap="square" lIns="0" tIns="12700" rIns="0" bIns="0" rtlCol="0">
            <a:spAutoFit/>
          </a:bodyPr>
          <a:lstStyle/>
          <a:p>
            <a:pPr marL="12700" marR="5080" algn="just">
              <a:lnSpc>
                <a:spcPct val="100000"/>
              </a:lnSpc>
              <a:spcBef>
                <a:spcPts val="100"/>
              </a:spcBef>
              <a:tabLst>
                <a:tab pos="4913630" algn="l"/>
              </a:tabLst>
            </a:pPr>
            <a:r>
              <a:rPr lang="en-US" sz="2000" dirty="0"/>
              <a:t>                                   The Employee Management System is a secure, cloud-ready backend solution built with Spring Boot to streamline human resource operations. It features a robust Login and Register API secured by JWT (JSON Web Tokens) for stateless authentication and Role-Based Access Control (RBAC) to manage permissions. The system ensures high data quality through strict User Input Validation and provides a resilient user experience via Global Exception Handling. To handle large datasets efficiently, the system implements Pagination and Sorting, all while being fully documented via Swagger for seamless cloud deployment</a:t>
            </a:r>
            <a:r>
              <a:rPr lang="en-US" dirty="0"/>
              <a:t>.</a:t>
            </a:r>
            <a:endParaRPr sz="1800" dirty="0">
              <a:latin typeface="Arial MT"/>
              <a:cs typeface="Arial M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5143500"/>
          </a:xfrm>
          <a:custGeom>
            <a:avLst/>
            <a:gdLst/>
            <a:ahLst/>
            <a:cxnLst/>
            <a:rect l="l" t="t" r="r" b="b"/>
            <a:pathLst>
              <a:path w="9144000" h="5143500">
                <a:moveTo>
                  <a:pt x="0" y="5143500"/>
                </a:moveTo>
                <a:lnTo>
                  <a:pt x="9144000" y="5143500"/>
                </a:lnTo>
                <a:lnTo>
                  <a:pt x="9144000" y="0"/>
                </a:lnTo>
                <a:lnTo>
                  <a:pt x="0" y="0"/>
                </a:lnTo>
                <a:lnTo>
                  <a:pt x="0" y="5143500"/>
                </a:lnTo>
                <a:close/>
              </a:path>
            </a:pathLst>
          </a:custGeom>
          <a:ln w="127000">
            <a:solidFill>
              <a:srgbClr val="252525"/>
            </a:solidFill>
          </a:ln>
        </p:spPr>
        <p:txBody>
          <a:bodyPr wrap="square" lIns="0" tIns="0" rIns="0" bIns="0" rtlCol="0"/>
          <a:lstStyle/>
          <a:p>
            <a:endParaRPr/>
          </a:p>
        </p:txBody>
      </p:sp>
      <p:sp>
        <p:nvSpPr>
          <p:cNvPr id="3" name="object 3"/>
          <p:cNvSpPr txBox="1">
            <a:spLocks noGrp="1"/>
          </p:cNvSpPr>
          <p:nvPr>
            <p:ph type="title"/>
          </p:nvPr>
        </p:nvSpPr>
        <p:spPr>
          <a:xfrm>
            <a:off x="348792" y="306146"/>
            <a:ext cx="6169025" cy="377190"/>
          </a:xfrm>
          <a:prstGeom prst="rect">
            <a:avLst/>
          </a:prstGeom>
        </p:spPr>
        <p:txBody>
          <a:bodyPr vert="horz" wrap="square" lIns="0" tIns="13335" rIns="0" bIns="0" rtlCol="0">
            <a:spAutoFit/>
          </a:bodyPr>
          <a:lstStyle/>
          <a:p>
            <a:pPr marL="12700">
              <a:lnSpc>
                <a:spcPct val="100000"/>
              </a:lnSpc>
              <a:spcBef>
                <a:spcPts val="105"/>
              </a:spcBef>
            </a:pPr>
            <a:r>
              <a:rPr sz="2300" b="0" u="sng" dirty="0">
                <a:solidFill>
                  <a:srgbClr val="FF0000"/>
                </a:solidFill>
                <a:uFill>
                  <a:solidFill>
                    <a:srgbClr val="FF0000"/>
                  </a:solidFill>
                </a:uFill>
                <a:latin typeface="Ebrima"/>
                <a:cs typeface="Ebrima"/>
              </a:rPr>
              <a:t>What</a:t>
            </a:r>
            <a:r>
              <a:rPr sz="2300" b="0" u="sng" spc="-35" dirty="0">
                <a:solidFill>
                  <a:srgbClr val="FF0000"/>
                </a:solidFill>
                <a:uFill>
                  <a:solidFill>
                    <a:srgbClr val="FF0000"/>
                  </a:solidFill>
                </a:uFill>
                <a:latin typeface="Ebrima"/>
                <a:cs typeface="Ebrima"/>
              </a:rPr>
              <a:t> </a:t>
            </a:r>
            <a:r>
              <a:rPr sz="2300" b="0" u="sng" dirty="0">
                <a:solidFill>
                  <a:srgbClr val="FF0000"/>
                </a:solidFill>
                <a:uFill>
                  <a:solidFill>
                    <a:srgbClr val="FF0000"/>
                  </a:solidFill>
                </a:uFill>
                <a:latin typeface="Ebrima"/>
                <a:cs typeface="Ebrima"/>
              </a:rPr>
              <a:t>we</a:t>
            </a:r>
            <a:r>
              <a:rPr sz="2300" b="0" u="sng" spc="-20" dirty="0">
                <a:solidFill>
                  <a:srgbClr val="FF0000"/>
                </a:solidFill>
                <a:uFill>
                  <a:solidFill>
                    <a:srgbClr val="FF0000"/>
                  </a:solidFill>
                </a:uFill>
                <a:latin typeface="Ebrima"/>
                <a:cs typeface="Ebrima"/>
              </a:rPr>
              <a:t> </a:t>
            </a:r>
            <a:r>
              <a:rPr sz="2300" b="0" u="sng" dirty="0">
                <a:solidFill>
                  <a:srgbClr val="FF0000"/>
                </a:solidFill>
                <a:uFill>
                  <a:solidFill>
                    <a:srgbClr val="FF0000"/>
                  </a:solidFill>
                </a:uFill>
                <a:latin typeface="Ebrima"/>
                <a:cs typeface="Ebrima"/>
              </a:rPr>
              <a:t>are</a:t>
            </a:r>
            <a:r>
              <a:rPr sz="2300" b="0" u="sng" spc="-30" dirty="0">
                <a:solidFill>
                  <a:srgbClr val="FF0000"/>
                </a:solidFill>
                <a:uFill>
                  <a:solidFill>
                    <a:srgbClr val="FF0000"/>
                  </a:solidFill>
                </a:uFill>
                <a:latin typeface="Ebrima"/>
                <a:cs typeface="Ebrima"/>
              </a:rPr>
              <a:t> </a:t>
            </a:r>
            <a:r>
              <a:rPr sz="2300" b="0" u="sng" dirty="0">
                <a:solidFill>
                  <a:srgbClr val="FF0000"/>
                </a:solidFill>
                <a:uFill>
                  <a:solidFill>
                    <a:srgbClr val="FF0000"/>
                  </a:solidFill>
                </a:uFill>
                <a:latin typeface="Ebrima"/>
                <a:cs typeface="Ebrima"/>
              </a:rPr>
              <a:t>going</a:t>
            </a:r>
            <a:r>
              <a:rPr sz="2300" b="0" u="sng" spc="-45" dirty="0">
                <a:solidFill>
                  <a:srgbClr val="FF0000"/>
                </a:solidFill>
                <a:uFill>
                  <a:solidFill>
                    <a:srgbClr val="FF0000"/>
                  </a:solidFill>
                </a:uFill>
                <a:latin typeface="Ebrima"/>
                <a:cs typeface="Ebrima"/>
              </a:rPr>
              <a:t> </a:t>
            </a:r>
            <a:r>
              <a:rPr sz="2300" b="0" u="sng" dirty="0">
                <a:solidFill>
                  <a:srgbClr val="FF0000"/>
                </a:solidFill>
                <a:uFill>
                  <a:solidFill>
                    <a:srgbClr val="FF0000"/>
                  </a:solidFill>
                </a:uFill>
                <a:latin typeface="Ebrima"/>
                <a:cs typeface="Ebrima"/>
              </a:rPr>
              <a:t>to</a:t>
            </a:r>
            <a:r>
              <a:rPr sz="2300" b="0" u="sng" spc="-25" dirty="0">
                <a:solidFill>
                  <a:srgbClr val="FF0000"/>
                </a:solidFill>
                <a:uFill>
                  <a:solidFill>
                    <a:srgbClr val="FF0000"/>
                  </a:solidFill>
                </a:uFill>
                <a:latin typeface="Ebrima"/>
                <a:cs typeface="Ebrima"/>
              </a:rPr>
              <a:t> </a:t>
            </a:r>
            <a:r>
              <a:rPr sz="2300" b="0" u="sng" dirty="0">
                <a:solidFill>
                  <a:srgbClr val="FF0000"/>
                </a:solidFill>
                <a:uFill>
                  <a:solidFill>
                    <a:srgbClr val="FF0000"/>
                  </a:solidFill>
                </a:uFill>
                <a:latin typeface="Ebrima"/>
                <a:cs typeface="Ebrima"/>
              </a:rPr>
              <a:t>build:</a:t>
            </a:r>
            <a:r>
              <a:rPr sz="2300" b="0" u="sng" spc="-30" dirty="0">
                <a:solidFill>
                  <a:srgbClr val="FF0000"/>
                </a:solidFill>
                <a:uFill>
                  <a:solidFill>
                    <a:srgbClr val="FF0000"/>
                  </a:solidFill>
                </a:uFill>
                <a:latin typeface="Ebrima"/>
                <a:cs typeface="Ebrima"/>
              </a:rPr>
              <a:t> </a:t>
            </a:r>
            <a:r>
              <a:rPr sz="2300" b="0" u="sng" dirty="0">
                <a:solidFill>
                  <a:srgbClr val="FF0000"/>
                </a:solidFill>
                <a:uFill>
                  <a:solidFill>
                    <a:srgbClr val="FF0000"/>
                  </a:solidFill>
                </a:uFill>
                <a:latin typeface="Ebrima"/>
                <a:cs typeface="Ebrima"/>
              </a:rPr>
              <a:t>Client</a:t>
            </a:r>
            <a:r>
              <a:rPr sz="2300" b="0" u="sng" spc="-35" dirty="0">
                <a:solidFill>
                  <a:srgbClr val="FF0000"/>
                </a:solidFill>
                <a:uFill>
                  <a:solidFill>
                    <a:srgbClr val="FF0000"/>
                  </a:solidFill>
                </a:uFill>
                <a:latin typeface="Ebrima"/>
                <a:cs typeface="Ebrima"/>
              </a:rPr>
              <a:t> </a:t>
            </a:r>
            <a:r>
              <a:rPr sz="2300" b="0" u="sng" spc="-10" dirty="0">
                <a:solidFill>
                  <a:srgbClr val="FF0000"/>
                </a:solidFill>
                <a:uFill>
                  <a:solidFill>
                    <a:srgbClr val="FF0000"/>
                  </a:solidFill>
                </a:uFill>
                <a:latin typeface="Ebrima"/>
                <a:cs typeface="Ebrima"/>
              </a:rPr>
              <a:t>Requirement</a:t>
            </a:r>
            <a:endParaRPr sz="2300" dirty="0">
              <a:latin typeface="Ebrima"/>
              <a:cs typeface="Ebrima"/>
            </a:endParaRPr>
          </a:p>
        </p:txBody>
      </p:sp>
      <p:sp>
        <p:nvSpPr>
          <p:cNvPr id="4" name="object 4"/>
          <p:cNvSpPr txBox="1"/>
          <p:nvPr/>
        </p:nvSpPr>
        <p:spPr>
          <a:xfrm>
            <a:off x="373506" y="3257550"/>
            <a:ext cx="7543165" cy="243656"/>
          </a:xfrm>
          <a:prstGeom prst="rect">
            <a:avLst/>
          </a:prstGeom>
        </p:spPr>
        <p:txBody>
          <a:bodyPr vert="horz" wrap="square" lIns="0" tIns="12700" rIns="0" bIns="0" rtlCol="0">
            <a:spAutoFit/>
          </a:bodyPr>
          <a:lstStyle/>
          <a:p>
            <a:pPr marL="12700" marR="5080" algn="just">
              <a:lnSpc>
                <a:spcPct val="100000"/>
              </a:lnSpc>
              <a:spcBef>
                <a:spcPts val="100"/>
              </a:spcBef>
            </a:pPr>
            <a:r>
              <a:rPr sz="1500" spc="-10" dirty="0">
                <a:solidFill>
                  <a:srgbClr val="15131A"/>
                </a:solidFill>
                <a:latin typeface="Arial MT"/>
                <a:cs typeface="Arial MT"/>
              </a:rPr>
              <a:t>.</a:t>
            </a:r>
            <a:endParaRPr sz="1500" dirty="0">
              <a:latin typeface="Arial MT"/>
              <a:cs typeface="Arial MT"/>
            </a:endParaRPr>
          </a:p>
        </p:txBody>
      </p:sp>
      <p:sp>
        <p:nvSpPr>
          <p:cNvPr id="5" name="Rectangle 1">
            <a:extLst>
              <a:ext uri="{FF2B5EF4-FFF2-40B4-BE49-F238E27FC236}">
                <a16:creationId xmlns:a16="http://schemas.microsoft.com/office/drawing/2014/main" id="{4476FCF0-ABCC-54BB-4FCB-C64479B5C920}"/>
              </a:ext>
            </a:extLst>
          </p:cNvPr>
          <p:cNvSpPr>
            <a:spLocks noChangeArrowheads="1"/>
          </p:cNvSpPr>
          <p:nvPr/>
        </p:nvSpPr>
        <p:spPr bwMode="auto">
          <a:xfrm>
            <a:off x="47501" y="863590"/>
            <a:ext cx="9241632"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User Authentication &amp; Security: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Secure </a:t>
            </a:r>
            <a:r>
              <a:rPr kumimoji="0" lang="en-US" altLang="en-US" sz="1800" b="1" i="0" u="none" strike="noStrike" cap="none" normalizeH="0" baseline="0" dirty="0">
                <a:ln>
                  <a:noFill/>
                </a:ln>
                <a:solidFill>
                  <a:schemeClr val="tx1"/>
                </a:solidFill>
                <a:effectLst/>
                <a:latin typeface="Arial" panose="020B0604020202020204" pitchFamily="34" charset="0"/>
              </a:rPr>
              <a:t>Login</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Sign-up</a:t>
            </a:r>
            <a:r>
              <a:rPr kumimoji="0" lang="en-US" altLang="en-US" sz="1800" b="0" i="0" u="none" strike="noStrike" cap="none" normalizeH="0" baseline="0" dirty="0">
                <a:ln>
                  <a:noFill/>
                </a:ln>
                <a:solidFill>
                  <a:schemeClr val="tx1"/>
                </a:solidFill>
                <a:effectLst/>
                <a:latin typeface="Arial" panose="020B0604020202020204" pitchFamily="34" charset="0"/>
              </a:rPr>
              <a:t> for all employees.</a:t>
            </a:r>
          </a:p>
          <a:p>
            <a:pPr marL="0" marR="0" lvl="0" indent="0" algn="just" defTabSz="914400" rtl="0" eaLnBrk="0" fontAlgn="base" latinLnBrk="0" hangingPunct="0">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Role-Based Access Control (RBAC):</a:t>
            </a:r>
            <a:r>
              <a:rPr kumimoji="0" lang="en-US" altLang="en-US" sz="1800" b="0" i="0" u="none" strike="noStrike" cap="none" normalizeH="0" baseline="0" dirty="0">
                <a:ln>
                  <a:noFill/>
                </a:ln>
                <a:solidFill>
                  <a:schemeClr val="tx1"/>
                </a:solidFill>
                <a:effectLst/>
                <a:latin typeface="Arial" panose="020B0604020202020204" pitchFamily="34" charset="0"/>
              </a:rPr>
              <a:t> Only Admins can add/delete employees, while</a:t>
            </a:r>
          </a:p>
          <a:p>
            <a:pPr marL="0" marR="0" lvl="0" indent="0" algn="just" defTabSz="914400" rtl="0" eaLnBrk="0" fontAlgn="base" latinLnBrk="0" hangingPunct="0">
              <a:spcBef>
                <a:spcPct val="0"/>
              </a:spcBef>
              <a:spcAft>
                <a:spcPct val="0"/>
              </a:spcAft>
              <a:buClrTx/>
              <a:buSzTx/>
              <a:tabLst/>
            </a:pPr>
            <a:r>
              <a:rPr lang="en-US" altLang="en-US"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regular users can only view or edit their own profiles.</a:t>
            </a:r>
          </a:p>
          <a:p>
            <a:pPr marL="0" marR="0" lvl="0" indent="0" algn="just" defTabSz="914400" rtl="0" eaLnBrk="0" fontAlgn="base" latinLnBrk="0" hangingPunct="0">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Employee Management (CRUD):</a:t>
            </a:r>
            <a:endParaRPr lang="en-US" altLang="en-US" dirty="0">
              <a:solidFill>
                <a:schemeClr val="tx1"/>
              </a:solidFill>
              <a:latin typeface="Arial" panose="020B0604020202020204" pitchFamily="34" charset="0"/>
            </a:endParaRPr>
          </a:p>
          <a:p>
            <a:pPr marL="0" marR="0" lvl="0" indent="0" algn="just" defTabSz="914400" rtl="0" eaLnBrk="0" fontAlgn="base" latinLnBrk="0" hangingPunct="0">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      Create:</a:t>
            </a:r>
            <a:r>
              <a:rPr kumimoji="0" lang="en-US" altLang="en-US" sz="1800" b="0" i="0" u="none" strike="noStrike" cap="none" normalizeH="0" baseline="0" dirty="0">
                <a:ln>
                  <a:noFill/>
                </a:ln>
                <a:solidFill>
                  <a:schemeClr val="tx1"/>
                </a:solidFill>
                <a:effectLst/>
                <a:latin typeface="Arial" panose="020B0604020202020204" pitchFamily="34" charset="0"/>
              </a:rPr>
              <a:t> Add new employee records with fields like Name, Email, Department, and</a:t>
            </a:r>
          </a:p>
          <a:p>
            <a:pPr marR="0" lvl="0" algn="just" defTabSz="914400" rtl="0" eaLnBrk="0" fontAlgn="base" latinLnBrk="0" hangingPunct="0">
              <a:spcBef>
                <a:spcPct val="0"/>
              </a:spcBef>
              <a:spcAft>
                <a:spcPct val="0"/>
              </a:spcAft>
              <a:buClrTx/>
              <a:buSzTx/>
              <a:tabLst/>
            </a:pPr>
            <a:r>
              <a:rPr lang="en-US" altLang="en-US"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Salary.</a:t>
            </a:r>
          </a:p>
          <a:p>
            <a:pPr marR="0" lvl="0" algn="just" defTabSz="914400" rtl="0" eaLnBrk="0" fontAlgn="base" latinLnBrk="0" hangingPunct="0">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      Read:</a:t>
            </a:r>
            <a:r>
              <a:rPr kumimoji="0" lang="en-US" altLang="en-US" sz="1800" b="0" i="0" u="none" strike="noStrike" cap="none" normalizeH="0" baseline="0" dirty="0">
                <a:ln>
                  <a:noFill/>
                </a:ln>
                <a:solidFill>
                  <a:schemeClr val="tx1"/>
                </a:solidFill>
                <a:effectLst/>
                <a:latin typeface="Arial" panose="020B0604020202020204" pitchFamily="34" charset="0"/>
              </a:rPr>
              <a:t> Search for employees by ID or Name and view a complete list of staff.</a:t>
            </a:r>
          </a:p>
          <a:p>
            <a:pPr marR="0" lvl="0" algn="just" defTabSz="914400" rtl="0" eaLnBrk="0" fontAlgn="base" latinLnBrk="0" hangingPunct="0">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      Update:</a:t>
            </a:r>
            <a:r>
              <a:rPr kumimoji="0" lang="en-US" altLang="en-US" sz="1800" b="0" i="0" u="none" strike="noStrike" cap="none" normalizeH="0" baseline="0" dirty="0">
                <a:ln>
                  <a:noFill/>
                </a:ln>
                <a:solidFill>
                  <a:schemeClr val="tx1"/>
                </a:solidFill>
                <a:effectLst/>
                <a:latin typeface="Arial" panose="020B0604020202020204" pitchFamily="34" charset="0"/>
              </a:rPr>
              <a:t> Modify existing details (e.g., salary hikes or department changes).</a:t>
            </a:r>
          </a:p>
          <a:p>
            <a:pPr marR="0" lvl="0" algn="just" defTabSz="914400" rtl="0" eaLnBrk="0" fontAlgn="base" latinLnBrk="0" hangingPunct="0">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      Delete:</a:t>
            </a:r>
            <a:r>
              <a:rPr kumimoji="0" lang="en-US" altLang="en-US" sz="1800" b="0" i="0" u="none" strike="noStrike" cap="none" normalizeH="0" baseline="0" dirty="0">
                <a:ln>
                  <a:noFill/>
                </a:ln>
                <a:solidFill>
                  <a:schemeClr val="tx1"/>
                </a:solidFill>
                <a:effectLst/>
                <a:latin typeface="Arial" panose="020B0604020202020204" pitchFamily="34" charset="0"/>
              </a:rPr>
              <a:t> Remove records of former employees from the active database.</a:t>
            </a:r>
          </a:p>
          <a:p>
            <a:pPr marL="0" marR="0" lvl="0" indent="0" algn="just" defTabSz="914400" rtl="0" eaLnBrk="0" fontAlgn="base" latinLnBrk="0" hangingPunct="0">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Validation:</a:t>
            </a:r>
            <a:r>
              <a:rPr kumimoji="0" lang="en-US" altLang="en-US" sz="1800" b="0" i="0" u="none" strike="noStrike" cap="none" normalizeH="0" baseline="0" dirty="0">
                <a:ln>
                  <a:noFill/>
                </a:ln>
                <a:solidFill>
                  <a:schemeClr val="tx1"/>
                </a:solidFill>
                <a:effectLst/>
                <a:latin typeface="Arial" panose="020B0604020202020204" pitchFamily="34" charset="0"/>
              </a:rPr>
              <a:t>  Automated checks for valid email formats and mandatory fields to prevent </a:t>
            </a:r>
          </a:p>
          <a:p>
            <a:pPr marL="0" marR="0" lvl="0" indent="0" algn="just" defTabSz="914400" rtl="0" eaLnBrk="0" fontAlgn="base" latinLnBrk="0" hangingPunct="0">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empty or "junk" 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5143500"/>
          </a:xfrm>
          <a:custGeom>
            <a:avLst/>
            <a:gdLst/>
            <a:ahLst/>
            <a:cxnLst/>
            <a:rect l="l" t="t" r="r" b="b"/>
            <a:pathLst>
              <a:path w="9144000" h="5143500">
                <a:moveTo>
                  <a:pt x="0" y="5143500"/>
                </a:moveTo>
                <a:lnTo>
                  <a:pt x="9144000" y="5143500"/>
                </a:lnTo>
                <a:lnTo>
                  <a:pt x="9144000" y="0"/>
                </a:lnTo>
                <a:lnTo>
                  <a:pt x="0" y="0"/>
                </a:lnTo>
                <a:lnTo>
                  <a:pt x="0" y="5143500"/>
                </a:lnTo>
                <a:close/>
              </a:path>
            </a:pathLst>
          </a:custGeom>
          <a:ln w="127000">
            <a:solidFill>
              <a:srgbClr val="252525"/>
            </a:solidFill>
          </a:ln>
        </p:spPr>
        <p:txBody>
          <a:bodyPr wrap="square" lIns="0" tIns="0" rIns="0" bIns="0" rtlCol="0"/>
          <a:lstStyle/>
          <a:p>
            <a:endParaRPr/>
          </a:p>
        </p:txBody>
      </p:sp>
      <p:sp>
        <p:nvSpPr>
          <p:cNvPr id="3" name="object 3"/>
          <p:cNvSpPr txBox="1">
            <a:spLocks noGrp="1"/>
          </p:cNvSpPr>
          <p:nvPr>
            <p:ph type="title"/>
          </p:nvPr>
        </p:nvSpPr>
        <p:spPr>
          <a:xfrm>
            <a:off x="348792" y="306146"/>
            <a:ext cx="6511925" cy="377190"/>
          </a:xfrm>
          <a:prstGeom prst="rect">
            <a:avLst/>
          </a:prstGeom>
        </p:spPr>
        <p:txBody>
          <a:bodyPr vert="horz" wrap="square" lIns="0" tIns="13335" rIns="0" bIns="0" rtlCol="0">
            <a:spAutoFit/>
          </a:bodyPr>
          <a:lstStyle/>
          <a:p>
            <a:pPr marL="12700">
              <a:lnSpc>
                <a:spcPct val="100000"/>
              </a:lnSpc>
              <a:spcBef>
                <a:spcPts val="105"/>
              </a:spcBef>
            </a:pPr>
            <a:r>
              <a:rPr sz="2300" b="0" u="sng" dirty="0">
                <a:solidFill>
                  <a:srgbClr val="FF0000"/>
                </a:solidFill>
                <a:uFill>
                  <a:solidFill>
                    <a:srgbClr val="FF0000"/>
                  </a:solidFill>
                </a:uFill>
                <a:latin typeface="Ebrima"/>
                <a:cs typeface="Ebrima"/>
              </a:rPr>
              <a:t>What</a:t>
            </a:r>
            <a:r>
              <a:rPr sz="2300" b="0" u="sng" spc="-35" dirty="0">
                <a:solidFill>
                  <a:srgbClr val="FF0000"/>
                </a:solidFill>
                <a:uFill>
                  <a:solidFill>
                    <a:srgbClr val="FF0000"/>
                  </a:solidFill>
                </a:uFill>
                <a:latin typeface="Ebrima"/>
                <a:cs typeface="Ebrima"/>
              </a:rPr>
              <a:t> </a:t>
            </a:r>
            <a:r>
              <a:rPr sz="2300" b="0" u="sng" dirty="0">
                <a:solidFill>
                  <a:srgbClr val="FF0000"/>
                </a:solidFill>
                <a:uFill>
                  <a:solidFill>
                    <a:srgbClr val="FF0000"/>
                  </a:solidFill>
                </a:uFill>
                <a:latin typeface="Ebrima"/>
                <a:cs typeface="Ebrima"/>
              </a:rPr>
              <a:t>we</a:t>
            </a:r>
            <a:r>
              <a:rPr sz="2300" b="0" u="sng" spc="-20" dirty="0">
                <a:solidFill>
                  <a:srgbClr val="FF0000"/>
                </a:solidFill>
                <a:uFill>
                  <a:solidFill>
                    <a:srgbClr val="FF0000"/>
                  </a:solidFill>
                </a:uFill>
                <a:latin typeface="Ebrima"/>
                <a:cs typeface="Ebrima"/>
              </a:rPr>
              <a:t> </a:t>
            </a:r>
            <a:r>
              <a:rPr sz="2300" b="0" u="sng" dirty="0">
                <a:solidFill>
                  <a:srgbClr val="FF0000"/>
                </a:solidFill>
                <a:uFill>
                  <a:solidFill>
                    <a:srgbClr val="FF0000"/>
                  </a:solidFill>
                </a:uFill>
                <a:latin typeface="Ebrima"/>
                <a:cs typeface="Ebrima"/>
              </a:rPr>
              <a:t>are</a:t>
            </a:r>
            <a:r>
              <a:rPr sz="2300" b="0" u="sng" spc="-35" dirty="0">
                <a:solidFill>
                  <a:srgbClr val="FF0000"/>
                </a:solidFill>
                <a:uFill>
                  <a:solidFill>
                    <a:srgbClr val="FF0000"/>
                  </a:solidFill>
                </a:uFill>
                <a:latin typeface="Ebrima"/>
                <a:cs typeface="Ebrima"/>
              </a:rPr>
              <a:t> </a:t>
            </a:r>
            <a:r>
              <a:rPr sz="2300" b="0" u="sng" dirty="0">
                <a:solidFill>
                  <a:srgbClr val="FF0000"/>
                </a:solidFill>
                <a:uFill>
                  <a:solidFill>
                    <a:srgbClr val="FF0000"/>
                  </a:solidFill>
                </a:uFill>
                <a:latin typeface="Ebrima"/>
                <a:cs typeface="Ebrima"/>
              </a:rPr>
              <a:t>going</a:t>
            </a:r>
            <a:r>
              <a:rPr sz="2300" b="0" u="sng" spc="-40" dirty="0">
                <a:solidFill>
                  <a:srgbClr val="FF0000"/>
                </a:solidFill>
                <a:uFill>
                  <a:solidFill>
                    <a:srgbClr val="FF0000"/>
                  </a:solidFill>
                </a:uFill>
                <a:latin typeface="Ebrima"/>
                <a:cs typeface="Ebrima"/>
              </a:rPr>
              <a:t> </a:t>
            </a:r>
            <a:r>
              <a:rPr sz="2300" b="0" u="sng" dirty="0">
                <a:solidFill>
                  <a:srgbClr val="FF0000"/>
                </a:solidFill>
                <a:uFill>
                  <a:solidFill>
                    <a:srgbClr val="FF0000"/>
                  </a:solidFill>
                </a:uFill>
                <a:latin typeface="Ebrima"/>
                <a:cs typeface="Ebrima"/>
              </a:rPr>
              <a:t>to</a:t>
            </a:r>
            <a:r>
              <a:rPr sz="2300" b="0" u="sng" spc="-30" dirty="0">
                <a:solidFill>
                  <a:srgbClr val="FF0000"/>
                </a:solidFill>
                <a:uFill>
                  <a:solidFill>
                    <a:srgbClr val="FF0000"/>
                  </a:solidFill>
                </a:uFill>
                <a:latin typeface="Ebrima"/>
                <a:cs typeface="Ebrima"/>
              </a:rPr>
              <a:t> </a:t>
            </a:r>
            <a:r>
              <a:rPr sz="2300" b="0" u="sng" dirty="0">
                <a:solidFill>
                  <a:srgbClr val="FF0000"/>
                </a:solidFill>
                <a:uFill>
                  <a:solidFill>
                    <a:srgbClr val="FF0000"/>
                  </a:solidFill>
                </a:uFill>
                <a:latin typeface="Ebrima"/>
                <a:cs typeface="Ebrima"/>
              </a:rPr>
              <a:t>build:</a:t>
            </a:r>
            <a:r>
              <a:rPr sz="2300" b="0" u="sng" spc="-30" dirty="0">
                <a:solidFill>
                  <a:srgbClr val="FF0000"/>
                </a:solidFill>
                <a:uFill>
                  <a:solidFill>
                    <a:srgbClr val="FF0000"/>
                  </a:solidFill>
                </a:uFill>
                <a:latin typeface="Ebrima"/>
                <a:cs typeface="Ebrima"/>
              </a:rPr>
              <a:t> </a:t>
            </a:r>
            <a:r>
              <a:rPr sz="2300" b="0" u="sng" dirty="0">
                <a:solidFill>
                  <a:srgbClr val="FF0000"/>
                </a:solidFill>
                <a:uFill>
                  <a:solidFill>
                    <a:srgbClr val="FF0000"/>
                  </a:solidFill>
                </a:uFill>
                <a:latin typeface="Ebrima"/>
                <a:cs typeface="Ebrima"/>
              </a:rPr>
              <a:t>Some</a:t>
            </a:r>
            <a:r>
              <a:rPr sz="2300" b="0" u="sng" spc="-40" dirty="0">
                <a:solidFill>
                  <a:srgbClr val="FF0000"/>
                </a:solidFill>
                <a:uFill>
                  <a:solidFill>
                    <a:srgbClr val="FF0000"/>
                  </a:solidFill>
                </a:uFill>
                <a:latin typeface="Ebrima"/>
                <a:cs typeface="Ebrima"/>
              </a:rPr>
              <a:t> </a:t>
            </a:r>
            <a:r>
              <a:rPr sz="2300" b="0" u="sng" dirty="0">
                <a:solidFill>
                  <a:srgbClr val="FF0000"/>
                </a:solidFill>
                <a:uFill>
                  <a:solidFill>
                    <a:srgbClr val="FF0000"/>
                  </a:solidFill>
                </a:uFill>
                <a:latin typeface="Ebrima"/>
                <a:cs typeface="Ebrima"/>
              </a:rPr>
              <a:t>technical</a:t>
            </a:r>
            <a:r>
              <a:rPr sz="2300" b="0" u="sng" spc="-35" dirty="0">
                <a:solidFill>
                  <a:srgbClr val="FF0000"/>
                </a:solidFill>
                <a:uFill>
                  <a:solidFill>
                    <a:srgbClr val="FF0000"/>
                  </a:solidFill>
                </a:uFill>
                <a:latin typeface="Ebrima"/>
                <a:cs typeface="Ebrima"/>
              </a:rPr>
              <a:t> </a:t>
            </a:r>
            <a:r>
              <a:rPr sz="2300" b="0" u="sng" spc="-10" dirty="0">
                <a:solidFill>
                  <a:srgbClr val="FF0000"/>
                </a:solidFill>
                <a:uFill>
                  <a:solidFill>
                    <a:srgbClr val="FF0000"/>
                  </a:solidFill>
                </a:uFill>
                <a:latin typeface="Ebrima"/>
                <a:cs typeface="Ebrima"/>
              </a:rPr>
              <a:t>terms.</a:t>
            </a:r>
            <a:endParaRPr sz="2300" dirty="0">
              <a:latin typeface="Ebrima"/>
              <a:cs typeface="Ebrima"/>
            </a:endParaRPr>
          </a:p>
        </p:txBody>
      </p:sp>
      <p:sp>
        <p:nvSpPr>
          <p:cNvPr id="14" name="TextBox 13">
            <a:extLst>
              <a:ext uri="{FF2B5EF4-FFF2-40B4-BE49-F238E27FC236}">
                <a16:creationId xmlns:a16="http://schemas.microsoft.com/office/drawing/2014/main" id="{4FAEB34C-A7DF-090E-A6CB-4435EF444134}"/>
              </a:ext>
            </a:extLst>
          </p:cNvPr>
          <p:cNvSpPr txBox="1"/>
          <p:nvPr/>
        </p:nvSpPr>
        <p:spPr>
          <a:xfrm>
            <a:off x="378480" y="1199825"/>
            <a:ext cx="8689320" cy="3416320"/>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Security &amp; Identity</a:t>
            </a:r>
            <a:r>
              <a:rPr kumimoji="0" lang="en-US" altLang="en-US" sz="1800" b="0" i="0" u="none" strike="noStrike" cap="none" normalizeH="0" baseline="0" dirty="0">
                <a:ln>
                  <a:noFill/>
                </a:ln>
                <a:solidFill>
                  <a:schemeClr val="tx1"/>
                </a:solidFill>
                <a:effectLst/>
                <a:latin typeface="Arial" panose="020B0604020202020204" pitchFamily="34" charset="0"/>
              </a:rPr>
              <a:t>: Implementation of a </a:t>
            </a:r>
            <a:r>
              <a:rPr kumimoji="0" lang="en-US" altLang="en-US" sz="1800" b="1" i="0" u="none" strike="noStrike" cap="none" normalizeH="0" baseline="0" dirty="0">
                <a:ln>
                  <a:noFill/>
                </a:ln>
                <a:solidFill>
                  <a:schemeClr val="tx1"/>
                </a:solidFill>
                <a:effectLst/>
                <a:latin typeface="Arial" panose="020B0604020202020204" pitchFamily="34" charset="0"/>
              </a:rPr>
              <a:t>Proper Login and Register API</a:t>
            </a:r>
            <a:r>
              <a:rPr kumimoji="0" lang="en-US" altLang="en-US" sz="1800" b="0" i="0" u="none" strike="noStrike" cap="none" normalizeH="0" baseline="0" dirty="0">
                <a:ln>
                  <a:noFill/>
                </a:ln>
                <a:solidFill>
                  <a:schemeClr val="tx1"/>
                </a:solidFill>
                <a:effectLst/>
                <a:latin typeface="Arial" panose="020B0604020202020204" pitchFamily="34" charset="0"/>
              </a:rPr>
              <a:t> using </a:t>
            </a:r>
            <a:r>
              <a:rPr kumimoji="0" lang="en-US" altLang="en-US" sz="1800" b="1" i="0" u="none" strike="noStrike" cap="none" normalizeH="0" baseline="0" dirty="0">
                <a:ln>
                  <a:noFill/>
                </a:ln>
                <a:solidFill>
                  <a:schemeClr val="tx1"/>
                </a:solidFill>
                <a:effectLst/>
                <a:latin typeface="Arial" panose="020B0604020202020204" pitchFamily="34" charset="0"/>
              </a:rPr>
              <a:t>JWT-based authentication</a:t>
            </a:r>
            <a:r>
              <a:rPr kumimoji="0" lang="en-US" altLang="en-US" sz="1800" b="0" i="0" u="none" strike="noStrike" cap="none" normalizeH="0" baseline="0" dirty="0">
                <a:ln>
                  <a:noFill/>
                </a:ln>
                <a:solidFill>
                  <a:schemeClr val="tx1"/>
                </a:solidFill>
                <a:effectLst/>
                <a:latin typeface="Arial" panose="020B0604020202020204" pitchFamily="34" charset="0"/>
              </a:rPr>
              <a:t> to ensure secure, stateless communication.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Role-Based Security</a:t>
            </a:r>
            <a:r>
              <a:rPr kumimoji="0" lang="en-US" altLang="en-US" sz="1800" b="0" i="0" u="none" strike="noStrike" cap="none" normalizeH="0" baseline="0" dirty="0">
                <a:ln>
                  <a:noFill/>
                </a:ln>
                <a:solidFill>
                  <a:schemeClr val="tx1"/>
                </a:solidFill>
                <a:effectLst/>
                <a:latin typeface="Arial" panose="020B0604020202020204" pitchFamily="34" charset="0"/>
              </a:rPr>
              <a:t>: APIs are protected with </a:t>
            </a:r>
            <a:r>
              <a:rPr kumimoji="0" lang="en-US" altLang="en-US" sz="1800" b="1" i="0" u="none" strike="noStrike" cap="none" normalizeH="0" baseline="0" dirty="0">
                <a:ln>
                  <a:noFill/>
                </a:ln>
                <a:solidFill>
                  <a:schemeClr val="tx1"/>
                </a:solidFill>
                <a:effectLst/>
                <a:latin typeface="Arial" panose="020B0604020202020204" pitchFamily="34" charset="0"/>
              </a:rPr>
              <a:t>Role-based authentication</a:t>
            </a:r>
            <a:r>
              <a:rPr kumimoji="0" lang="en-US" altLang="en-US" sz="1800" b="0" i="0" u="none" strike="noStrike" cap="none" normalizeH="0" baseline="0" dirty="0">
                <a:ln>
                  <a:noFill/>
                </a:ln>
                <a:solidFill>
                  <a:schemeClr val="tx1"/>
                </a:solidFill>
                <a:effectLst/>
                <a:latin typeface="Arial" panose="020B0604020202020204" pitchFamily="34" charset="0"/>
              </a:rPr>
              <a:t>, ensuring that only authorized users (e.g., Admin vs. Employee) can access specific resources.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Optimization</a:t>
            </a:r>
            <a:r>
              <a:rPr kumimoji="0" lang="en-US" altLang="en-US" sz="1800" b="0" i="0" u="none" strike="noStrike" cap="none" normalizeH="0" baseline="0" dirty="0">
                <a:ln>
                  <a:noFill/>
                </a:ln>
                <a:solidFill>
                  <a:schemeClr val="tx1"/>
                </a:solidFill>
                <a:effectLst/>
                <a:latin typeface="Arial" panose="020B0604020202020204" pitchFamily="34" charset="0"/>
              </a:rPr>
              <a:t>: The API supports </a:t>
            </a:r>
            <a:r>
              <a:rPr kumimoji="0" lang="en-US" altLang="en-US" sz="1800" b="1" i="0" u="none" strike="noStrike" cap="none" normalizeH="0" baseline="0" dirty="0">
                <a:ln>
                  <a:noFill/>
                </a:ln>
                <a:solidFill>
                  <a:schemeClr val="tx1"/>
                </a:solidFill>
                <a:effectLst/>
                <a:latin typeface="Arial" panose="020B0604020202020204" pitchFamily="34" charset="0"/>
              </a:rPr>
              <a:t>Pagination and Sorting</a:t>
            </a:r>
            <a:r>
              <a:rPr kumimoji="0" lang="en-US" altLang="en-US" sz="1800" b="0" i="0" u="none" strike="noStrike" cap="none" normalizeH="0" baseline="0" dirty="0">
                <a:ln>
                  <a:noFill/>
                </a:ln>
                <a:solidFill>
                  <a:schemeClr val="tx1"/>
                </a:solidFill>
                <a:effectLst/>
                <a:latin typeface="Arial" panose="020B0604020202020204" pitchFamily="34" charset="0"/>
              </a:rPr>
              <a:t> for employee records, preventing performance bottlenecks during data retrieval.</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Code Quality</a:t>
            </a:r>
            <a:r>
              <a:rPr kumimoji="0" lang="en-US" altLang="en-US" sz="1800" b="0" i="0" u="none" strike="noStrike" cap="none" normalizeH="0" baseline="0" dirty="0">
                <a:ln>
                  <a:noFill/>
                </a:ln>
                <a:solidFill>
                  <a:schemeClr val="tx1"/>
                </a:solidFill>
                <a:effectLst/>
                <a:latin typeface="Arial" panose="020B0604020202020204" pitchFamily="34" charset="0"/>
              </a:rPr>
              <a:t>: Includes </a:t>
            </a:r>
            <a:r>
              <a:rPr kumimoji="0" lang="en-US" altLang="en-US" sz="1800" b="1" i="0" u="none" strike="noStrike" cap="none" normalizeH="0" baseline="0" dirty="0">
                <a:ln>
                  <a:noFill/>
                </a:ln>
                <a:solidFill>
                  <a:schemeClr val="tx1"/>
                </a:solidFill>
                <a:effectLst/>
                <a:latin typeface="Arial" panose="020B0604020202020204" pitchFamily="34" charset="0"/>
              </a:rPr>
              <a:t>Proper user input validation</a:t>
            </a:r>
            <a:r>
              <a:rPr kumimoji="0" lang="en-US" altLang="en-US" sz="1800" b="0" i="0" u="none" strike="noStrike" cap="none" normalizeH="0" baseline="0" dirty="0">
                <a:ln>
                  <a:noFill/>
                </a:ln>
                <a:solidFill>
                  <a:schemeClr val="tx1"/>
                </a:solidFill>
                <a:effectLst/>
                <a:latin typeface="Arial" panose="020B0604020202020204" pitchFamily="34" charset="0"/>
              </a:rPr>
              <a:t> to maintain data integrity and </a:t>
            </a:r>
            <a:r>
              <a:rPr kumimoji="0" lang="en-US" altLang="en-US" sz="1800" b="1" i="0" u="none" strike="noStrike" cap="none" normalizeH="0" baseline="0" dirty="0">
                <a:ln>
                  <a:noFill/>
                </a:ln>
                <a:solidFill>
                  <a:schemeClr val="tx1"/>
                </a:solidFill>
                <a:effectLst/>
                <a:latin typeface="Arial" panose="020B0604020202020204" pitchFamily="34" charset="0"/>
              </a:rPr>
              <a:t>Proper exception handling</a:t>
            </a:r>
            <a:r>
              <a:rPr kumimoji="0" lang="en-US" altLang="en-US" sz="1800" b="0" i="0" u="none" strike="noStrike" cap="none" normalizeH="0" baseline="0" dirty="0">
                <a:ln>
                  <a:noFill/>
                </a:ln>
                <a:solidFill>
                  <a:schemeClr val="tx1"/>
                </a:solidFill>
                <a:effectLst/>
                <a:latin typeface="Arial" panose="020B0604020202020204" pitchFamily="34" charset="0"/>
              </a:rPr>
              <a:t> to return standardized error messages.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DevOps &amp; Documentation</a:t>
            </a:r>
            <a:r>
              <a:rPr kumimoji="0" lang="en-US" altLang="en-US" sz="1800" b="0" i="0" u="none" strike="noStrike" cap="none" normalizeH="0" baseline="0" dirty="0">
                <a:ln>
                  <a:noFill/>
                </a:ln>
                <a:solidFill>
                  <a:schemeClr val="tx1"/>
                </a:solidFill>
                <a:effectLst/>
                <a:latin typeface="Arial" panose="020B0604020202020204" pitchFamily="34" charset="0"/>
              </a:rPr>
              <a:t>: All REST APIs are </a:t>
            </a:r>
            <a:r>
              <a:rPr kumimoji="0" lang="en-US" altLang="en-US" sz="1800" b="1" i="0" u="none" strike="noStrike" cap="none" normalizeH="0" baseline="0" dirty="0">
                <a:ln>
                  <a:noFill/>
                </a:ln>
                <a:solidFill>
                  <a:schemeClr val="tx1"/>
                </a:solidFill>
                <a:effectLst/>
                <a:latin typeface="Arial" panose="020B0604020202020204" pitchFamily="34" charset="0"/>
              </a:rPr>
              <a:t>documented</a:t>
            </a:r>
            <a:r>
              <a:rPr kumimoji="0" lang="en-US" altLang="en-US" sz="1800" b="0" i="0" u="none" strike="noStrike" cap="none" normalizeH="0" baseline="0" dirty="0">
                <a:ln>
                  <a:noFill/>
                </a:ln>
                <a:solidFill>
                  <a:schemeClr val="tx1"/>
                </a:solidFill>
                <a:effectLst/>
                <a:latin typeface="Arial" panose="020B0604020202020204" pitchFamily="34" charset="0"/>
              </a:rPr>
              <a:t> (using Swagger/</a:t>
            </a:r>
            <a:r>
              <a:rPr kumimoji="0" lang="en-US" altLang="en-US" sz="1800" b="0" i="0" u="none" strike="noStrike" cap="none" normalizeH="0" baseline="0" dirty="0" err="1">
                <a:ln>
                  <a:noFill/>
                </a:ln>
                <a:solidFill>
                  <a:schemeClr val="tx1"/>
                </a:solidFill>
                <a:effectLst/>
                <a:latin typeface="Arial" panose="020B0604020202020204" pitchFamily="34" charset="0"/>
              </a:rPr>
              <a:t>OpenAPI</a:t>
            </a:r>
            <a:r>
              <a:rPr kumimoji="0" lang="en-US" altLang="en-US" sz="1800" b="0" i="0" u="none" strike="noStrike" cap="none" normalizeH="0" baseline="0" dirty="0">
                <a:ln>
                  <a:noFill/>
                </a:ln>
                <a:solidFill>
                  <a:schemeClr val="tx1"/>
                </a:solidFill>
                <a:effectLst/>
                <a:latin typeface="Arial" panose="020B0604020202020204" pitchFamily="34" charset="0"/>
              </a:rPr>
              <a:t>) for easy consumer integration and are prepared for </a:t>
            </a:r>
            <a:r>
              <a:rPr kumimoji="0" lang="en-US" altLang="en-US" sz="1800" b="1" i="0" u="none" strike="noStrike" cap="none" normalizeH="0" baseline="0" dirty="0">
                <a:ln>
                  <a:noFill/>
                </a:ln>
                <a:solidFill>
                  <a:schemeClr val="tx1"/>
                </a:solidFill>
                <a:effectLst/>
                <a:latin typeface="Arial" panose="020B0604020202020204" pitchFamily="34" charset="0"/>
              </a:rPr>
              <a:t>Cloud Platform deployment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5143500"/>
          </a:xfrm>
          <a:custGeom>
            <a:avLst/>
            <a:gdLst/>
            <a:ahLst/>
            <a:cxnLst/>
            <a:rect l="l" t="t" r="r" b="b"/>
            <a:pathLst>
              <a:path w="9144000" h="5143500">
                <a:moveTo>
                  <a:pt x="0" y="5143500"/>
                </a:moveTo>
                <a:lnTo>
                  <a:pt x="9144000" y="5143500"/>
                </a:lnTo>
                <a:lnTo>
                  <a:pt x="9144000" y="0"/>
                </a:lnTo>
                <a:lnTo>
                  <a:pt x="0" y="0"/>
                </a:lnTo>
                <a:lnTo>
                  <a:pt x="0" y="5143500"/>
                </a:lnTo>
                <a:close/>
              </a:path>
            </a:pathLst>
          </a:custGeom>
          <a:ln w="127000">
            <a:solidFill>
              <a:srgbClr val="252525"/>
            </a:solidFill>
          </a:ln>
        </p:spPr>
        <p:txBody>
          <a:bodyPr wrap="square" lIns="0" tIns="0" rIns="0" bIns="0" rtlCol="0"/>
          <a:lstStyle/>
          <a:p>
            <a:endParaRPr/>
          </a:p>
        </p:txBody>
      </p:sp>
      <p:sp>
        <p:nvSpPr>
          <p:cNvPr id="3" name="object 3"/>
          <p:cNvSpPr txBox="1">
            <a:spLocks noGrp="1"/>
          </p:cNvSpPr>
          <p:nvPr>
            <p:ph type="title"/>
          </p:nvPr>
        </p:nvSpPr>
        <p:spPr>
          <a:xfrm>
            <a:off x="348792" y="306146"/>
            <a:ext cx="7184390" cy="377190"/>
          </a:xfrm>
          <a:prstGeom prst="rect">
            <a:avLst/>
          </a:prstGeom>
        </p:spPr>
        <p:txBody>
          <a:bodyPr vert="horz" wrap="square" lIns="0" tIns="13335" rIns="0" bIns="0" rtlCol="0">
            <a:spAutoFit/>
          </a:bodyPr>
          <a:lstStyle/>
          <a:p>
            <a:pPr marL="12700">
              <a:lnSpc>
                <a:spcPct val="100000"/>
              </a:lnSpc>
              <a:spcBef>
                <a:spcPts val="105"/>
              </a:spcBef>
            </a:pPr>
            <a:r>
              <a:rPr sz="2300" b="0" u="sng" dirty="0">
                <a:solidFill>
                  <a:srgbClr val="FF0000"/>
                </a:solidFill>
                <a:uFill>
                  <a:solidFill>
                    <a:srgbClr val="FF0000"/>
                  </a:solidFill>
                </a:uFill>
                <a:latin typeface="Ebrima"/>
                <a:cs typeface="Ebrima"/>
              </a:rPr>
              <a:t>What</a:t>
            </a:r>
            <a:r>
              <a:rPr sz="2300" b="0" u="sng" spc="-35" dirty="0">
                <a:solidFill>
                  <a:srgbClr val="FF0000"/>
                </a:solidFill>
                <a:uFill>
                  <a:solidFill>
                    <a:srgbClr val="FF0000"/>
                  </a:solidFill>
                </a:uFill>
                <a:latin typeface="Ebrima"/>
                <a:cs typeface="Ebrima"/>
              </a:rPr>
              <a:t> </a:t>
            </a:r>
            <a:r>
              <a:rPr sz="2300" b="0" u="sng" dirty="0">
                <a:solidFill>
                  <a:srgbClr val="FF0000"/>
                </a:solidFill>
                <a:uFill>
                  <a:solidFill>
                    <a:srgbClr val="FF0000"/>
                  </a:solidFill>
                </a:uFill>
                <a:latin typeface="Ebrima"/>
                <a:cs typeface="Ebrima"/>
              </a:rPr>
              <a:t>are</a:t>
            </a:r>
            <a:r>
              <a:rPr sz="2300" b="0" u="sng" spc="-20" dirty="0">
                <a:solidFill>
                  <a:srgbClr val="FF0000"/>
                </a:solidFill>
                <a:uFill>
                  <a:solidFill>
                    <a:srgbClr val="FF0000"/>
                  </a:solidFill>
                </a:uFill>
                <a:latin typeface="Ebrima"/>
                <a:cs typeface="Ebrima"/>
              </a:rPr>
              <a:t> </a:t>
            </a:r>
            <a:r>
              <a:rPr sz="2300" b="0" u="sng" dirty="0">
                <a:solidFill>
                  <a:srgbClr val="FF0000"/>
                </a:solidFill>
                <a:uFill>
                  <a:solidFill>
                    <a:srgbClr val="FF0000"/>
                  </a:solidFill>
                </a:uFill>
                <a:latin typeface="Ebrima"/>
                <a:cs typeface="Ebrima"/>
              </a:rPr>
              <a:t>the</a:t>
            </a:r>
            <a:r>
              <a:rPr sz="2300" b="0" u="sng" spc="-30" dirty="0">
                <a:solidFill>
                  <a:srgbClr val="FF0000"/>
                </a:solidFill>
                <a:uFill>
                  <a:solidFill>
                    <a:srgbClr val="FF0000"/>
                  </a:solidFill>
                </a:uFill>
                <a:latin typeface="Ebrima"/>
                <a:cs typeface="Ebrima"/>
              </a:rPr>
              <a:t> </a:t>
            </a:r>
            <a:r>
              <a:rPr sz="2300" b="0" u="sng" dirty="0">
                <a:solidFill>
                  <a:srgbClr val="FF0000"/>
                </a:solidFill>
                <a:uFill>
                  <a:solidFill>
                    <a:srgbClr val="FF0000"/>
                  </a:solidFill>
                </a:uFill>
                <a:latin typeface="Ebrima"/>
                <a:cs typeface="Ebrima"/>
              </a:rPr>
              <a:t>technologies</a:t>
            </a:r>
            <a:r>
              <a:rPr sz="2300" b="0" u="sng" spc="-60" dirty="0">
                <a:solidFill>
                  <a:srgbClr val="FF0000"/>
                </a:solidFill>
                <a:uFill>
                  <a:solidFill>
                    <a:srgbClr val="FF0000"/>
                  </a:solidFill>
                </a:uFill>
                <a:latin typeface="Ebrima"/>
                <a:cs typeface="Ebrima"/>
              </a:rPr>
              <a:t> </a:t>
            </a:r>
            <a:r>
              <a:rPr sz="2300" b="0" u="sng" dirty="0">
                <a:solidFill>
                  <a:srgbClr val="FF0000"/>
                </a:solidFill>
                <a:uFill>
                  <a:solidFill>
                    <a:srgbClr val="FF0000"/>
                  </a:solidFill>
                </a:uFill>
                <a:latin typeface="Ebrima"/>
                <a:cs typeface="Ebrima"/>
              </a:rPr>
              <a:t>and</a:t>
            </a:r>
            <a:r>
              <a:rPr sz="2300" b="0" u="sng" spc="-30" dirty="0">
                <a:solidFill>
                  <a:srgbClr val="FF0000"/>
                </a:solidFill>
                <a:uFill>
                  <a:solidFill>
                    <a:srgbClr val="FF0000"/>
                  </a:solidFill>
                </a:uFill>
                <a:latin typeface="Ebrima"/>
                <a:cs typeface="Ebrima"/>
              </a:rPr>
              <a:t> </a:t>
            </a:r>
            <a:r>
              <a:rPr sz="2300" b="0" u="sng" dirty="0">
                <a:solidFill>
                  <a:srgbClr val="FF0000"/>
                </a:solidFill>
                <a:uFill>
                  <a:solidFill>
                    <a:srgbClr val="FF0000"/>
                  </a:solidFill>
                </a:uFill>
                <a:latin typeface="Ebrima"/>
                <a:cs typeface="Ebrima"/>
              </a:rPr>
              <a:t>tools</a:t>
            </a:r>
            <a:r>
              <a:rPr sz="2300" b="0" u="sng" spc="-25" dirty="0">
                <a:solidFill>
                  <a:srgbClr val="FF0000"/>
                </a:solidFill>
                <a:uFill>
                  <a:solidFill>
                    <a:srgbClr val="FF0000"/>
                  </a:solidFill>
                </a:uFill>
                <a:latin typeface="Ebrima"/>
                <a:cs typeface="Ebrima"/>
              </a:rPr>
              <a:t> </a:t>
            </a:r>
            <a:r>
              <a:rPr sz="2300" b="0" u="sng" dirty="0">
                <a:solidFill>
                  <a:srgbClr val="FF0000"/>
                </a:solidFill>
                <a:uFill>
                  <a:solidFill>
                    <a:srgbClr val="FF0000"/>
                  </a:solidFill>
                </a:uFill>
                <a:latin typeface="Ebrima"/>
                <a:cs typeface="Ebrima"/>
              </a:rPr>
              <a:t>we</a:t>
            </a:r>
            <a:r>
              <a:rPr sz="2300" b="0" u="sng" spc="-35" dirty="0">
                <a:solidFill>
                  <a:srgbClr val="FF0000"/>
                </a:solidFill>
                <a:uFill>
                  <a:solidFill>
                    <a:srgbClr val="FF0000"/>
                  </a:solidFill>
                </a:uFill>
                <a:latin typeface="Ebrima"/>
                <a:cs typeface="Ebrima"/>
              </a:rPr>
              <a:t> </a:t>
            </a:r>
            <a:r>
              <a:rPr sz="2300" b="0" u="sng" dirty="0">
                <a:solidFill>
                  <a:srgbClr val="FF0000"/>
                </a:solidFill>
                <a:uFill>
                  <a:solidFill>
                    <a:srgbClr val="FF0000"/>
                  </a:solidFill>
                </a:uFill>
                <a:latin typeface="Ebrima"/>
                <a:cs typeface="Ebrima"/>
              </a:rPr>
              <a:t>are</a:t>
            </a:r>
            <a:r>
              <a:rPr sz="2300" b="0" u="sng" spc="-15" dirty="0">
                <a:solidFill>
                  <a:srgbClr val="FF0000"/>
                </a:solidFill>
                <a:uFill>
                  <a:solidFill>
                    <a:srgbClr val="FF0000"/>
                  </a:solidFill>
                </a:uFill>
                <a:latin typeface="Ebrima"/>
                <a:cs typeface="Ebrima"/>
              </a:rPr>
              <a:t> </a:t>
            </a:r>
            <a:r>
              <a:rPr sz="2300" b="0" u="sng" dirty="0">
                <a:solidFill>
                  <a:srgbClr val="FF0000"/>
                </a:solidFill>
                <a:uFill>
                  <a:solidFill>
                    <a:srgbClr val="FF0000"/>
                  </a:solidFill>
                </a:uFill>
                <a:latin typeface="Ebrima"/>
                <a:cs typeface="Ebrima"/>
              </a:rPr>
              <a:t>going</a:t>
            </a:r>
            <a:r>
              <a:rPr sz="2300" b="0" u="sng" spc="-45" dirty="0">
                <a:solidFill>
                  <a:srgbClr val="FF0000"/>
                </a:solidFill>
                <a:uFill>
                  <a:solidFill>
                    <a:srgbClr val="FF0000"/>
                  </a:solidFill>
                </a:uFill>
                <a:latin typeface="Ebrima"/>
                <a:cs typeface="Ebrima"/>
              </a:rPr>
              <a:t> </a:t>
            </a:r>
            <a:r>
              <a:rPr sz="2300" b="0" u="sng" dirty="0">
                <a:solidFill>
                  <a:srgbClr val="FF0000"/>
                </a:solidFill>
                <a:uFill>
                  <a:solidFill>
                    <a:srgbClr val="FF0000"/>
                  </a:solidFill>
                </a:uFill>
                <a:latin typeface="Ebrima"/>
                <a:cs typeface="Ebrima"/>
              </a:rPr>
              <a:t>use</a:t>
            </a:r>
            <a:r>
              <a:rPr sz="2300" b="0" u="sng" spc="-20" dirty="0">
                <a:solidFill>
                  <a:srgbClr val="FF0000"/>
                </a:solidFill>
                <a:uFill>
                  <a:solidFill>
                    <a:srgbClr val="FF0000"/>
                  </a:solidFill>
                </a:uFill>
                <a:latin typeface="Ebrima"/>
                <a:cs typeface="Ebrima"/>
              </a:rPr>
              <a:t> </a:t>
            </a:r>
            <a:r>
              <a:rPr sz="2300" b="0" u="sng" spc="-50" dirty="0">
                <a:solidFill>
                  <a:srgbClr val="FF0000"/>
                </a:solidFill>
                <a:uFill>
                  <a:solidFill>
                    <a:srgbClr val="FF0000"/>
                  </a:solidFill>
                </a:uFill>
                <a:latin typeface="Ebrima"/>
                <a:cs typeface="Ebrima"/>
              </a:rPr>
              <a:t>?</a:t>
            </a:r>
            <a:endParaRPr sz="2300">
              <a:latin typeface="Ebrima"/>
              <a:cs typeface="Ebrima"/>
            </a:endParaRPr>
          </a:p>
        </p:txBody>
      </p:sp>
      <p:sp>
        <p:nvSpPr>
          <p:cNvPr id="4" name="object 4"/>
          <p:cNvSpPr txBox="1"/>
          <p:nvPr/>
        </p:nvSpPr>
        <p:spPr>
          <a:xfrm>
            <a:off x="393293" y="845565"/>
            <a:ext cx="7760107" cy="3362459"/>
          </a:xfrm>
          <a:prstGeom prst="rect">
            <a:avLst/>
          </a:prstGeom>
        </p:spPr>
        <p:txBody>
          <a:bodyPr vert="horz" wrap="square" lIns="0" tIns="127000" rIns="0" bIns="0" rtlCol="0">
            <a:spAutoFit/>
          </a:bodyPr>
          <a:lstStyle/>
          <a:p>
            <a:pPr marL="269875" indent="-257175">
              <a:lnSpc>
                <a:spcPct val="100000"/>
              </a:lnSpc>
              <a:spcBef>
                <a:spcPts val="1000"/>
              </a:spcBef>
              <a:buFont typeface="Arial MT"/>
              <a:buChar char="•"/>
              <a:tabLst>
                <a:tab pos="269875" algn="l"/>
              </a:tabLst>
            </a:pPr>
            <a:r>
              <a:rPr sz="1500" dirty="0">
                <a:latin typeface="Arial" panose="020B0604020202020204" pitchFamily="34" charset="0"/>
                <a:cs typeface="Arial" panose="020B0604020202020204" pitchFamily="34" charset="0"/>
              </a:rPr>
              <a:t>Framework:</a:t>
            </a:r>
            <a:r>
              <a:rPr sz="1500" spc="-10" dirty="0">
                <a:latin typeface="Arial" panose="020B0604020202020204" pitchFamily="34" charset="0"/>
                <a:cs typeface="Arial" panose="020B0604020202020204" pitchFamily="34" charset="0"/>
              </a:rPr>
              <a:t> </a:t>
            </a:r>
            <a:r>
              <a:rPr sz="1500" b="1" dirty="0">
                <a:solidFill>
                  <a:srgbClr val="FF0000"/>
                </a:solidFill>
                <a:latin typeface="Arial" panose="020B0604020202020204" pitchFamily="34" charset="0"/>
                <a:cs typeface="Arial" panose="020B0604020202020204" pitchFamily="34" charset="0"/>
              </a:rPr>
              <a:t>Spring</a:t>
            </a:r>
            <a:r>
              <a:rPr sz="1500" b="1" spc="-55" dirty="0">
                <a:solidFill>
                  <a:srgbClr val="FF0000"/>
                </a:solidFill>
                <a:latin typeface="Arial" panose="020B0604020202020204" pitchFamily="34" charset="0"/>
                <a:cs typeface="Arial" panose="020B0604020202020204" pitchFamily="34" charset="0"/>
              </a:rPr>
              <a:t> </a:t>
            </a:r>
            <a:r>
              <a:rPr sz="1500" b="1" dirty="0">
                <a:solidFill>
                  <a:srgbClr val="FF0000"/>
                </a:solidFill>
                <a:latin typeface="Arial" panose="020B0604020202020204" pitchFamily="34" charset="0"/>
                <a:cs typeface="Arial" panose="020B0604020202020204" pitchFamily="34" charset="0"/>
              </a:rPr>
              <a:t>Boot</a:t>
            </a:r>
            <a:r>
              <a:rPr sz="1500" b="1" spc="-30" dirty="0">
                <a:solidFill>
                  <a:srgbClr val="FF0000"/>
                </a:solidFill>
                <a:latin typeface="Arial" panose="020B0604020202020204" pitchFamily="34" charset="0"/>
                <a:cs typeface="Arial" panose="020B0604020202020204" pitchFamily="34" charset="0"/>
              </a:rPr>
              <a:t> </a:t>
            </a:r>
            <a:r>
              <a:rPr sz="1500" dirty="0">
                <a:latin typeface="Arial" panose="020B0604020202020204" pitchFamily="34" charset="0"/>
                <a:cs typeface="Arial" panose="020B0604020202020204" pitchFamily="34" charset="0"/>
              </a:rPr>
              <a:t>Java</a:t>
            </a:r>
            <a:r>
              <a:rPr sz="1500" spc="-50" dirty="0">
                <a:latin typeface="Arial" panose="020B0604020202020204" pitchFamily="34" charset="0"/>
                <a:cs typeface="Arial" panose="020B0604020202020204" pitchFamily="34" charset="0"/>
              </a:rPr>
              <a:t> </a:t>
            </a:r>
            <a:r>
              <a:rPr sz="1500" spc="-10" dirty="0">
                <a:latin typeface="Arial" panose="020B0604020202020204" pitchFamily="34" charset="0"/>
                <a:cs typeface="Arial" panose="020B0604020202020204" pitchFamily="34" charset="0"/>
              </a:rPr>
              <a:t>Framework.</a:t>
            </a:r>
            <a:endParaRPr sz="1500" dirty="0">
              <a:latin typeface="Arial" panose="020B0604020202020204" pitchFamily="34" charset="0"/>
              <a:cs typeface="Arial" panose="020B0604020202020204" pitchFamily="34" charset="0"/>
            </a:endParaRPr>
          </a:p>
          <a:p>
            <a:pPr marL="612775" lvl="1" indent="-257175">
              <a:lnSpc>
                <a:spcPct val="100000"/>
              </a:lnSpc>
              <a:spcBef>
                <a:spcPts val="900"/>
              </a:spcBef>
              <a:buFont typeface="Arial MT"/>
              <a:buChar char="•"/>
              <a:tabLst>
                <a:tab pos="612775" algn="l"/>
              </a:tabLst>
            </a:pPr>
            <a:r>
              <a:rPr sz="1500" dirty="0">
                <a:latin typeface="Arial" panose="020B0604020202020204" pitchFamily="34" charset="0"/>
                <a:cs typeface="Arial" panose="020B0604020202020204" pitchFamily="34" charset="0"/>
              </a:rPr>
              <a:t>Java</a:t>
            </a:r>
            <a:r>
              <a:rPr sz="1500" spc="-25" dirty="0">
                <a:latin typeface="Arial" panose="020B0604020202020204" pitchFamily="34" charset="0"/>
                <a:cs typeface="Arial" panose="020B0604020202020204" pitchFamily="34" charset="0"/>
              </a:rPr>
              <a:t> 8+</a:t>
            </a:r>
            <a:endParaRPr sz="1500" dirty="0">
              <a:latin typeface="Arial" panose="020B0604020202020204" pitchFamily="34" charset="0"/>
              <a:cs typeface="Arial" panose="020B0604020202020204" pitchFamily="34" charset="0"/>
            </a:endParaRPr>
          </a:p>
          <a:p>
            <a:pPr marL="612775" lvl="1" indent="-257175">
              <a:lnSpc>
                <a:spcPct val="100000"/>
              </a:lnSpc>
              <a:spcBef>
                <a:spcPts val="900"/>
              </a:spcBef>
              <a:buFont typeface="Arial MT"/>
              <a:buChar char="•"/>
              <a:tabLst>
                <a:tab pos="612775" algn="l"/>
              </a:tabLst>
            </a:pPr>
            <a:r>
              <a:rPr sz="1500" spc="-10" dirty="0">
                <a:latin typeface="Arial" panose="020B0604020202020204" pitchFamily="34" charset="0"/>
                <a:cs typeface="Arial" panose="020B0604020202020204" pitchFamily="34" charset="0"/>
              </a:rPr>
              <a:t>Maven</a:t>
            </a:r>
            <a:endParaRPr sz="1500" dirty="0">
              <a:latin typeface="Arial" panose="020B0604020202020204" pitchFamily="34" charset="0"/>
              <a:cs typeface="Arial" panose="020B0604020202020204" pitchFamily="34" charset="0"/>
            </a:endParaRPr>
          </a:p>
          <a:p>
            <a:pPr marL="612775" lvl="1" indent="-257175">
              <a:lnSpc>
                <a:spcPct val="100000"/>
              </a:lnSpc>
              <a:spcBef>
                <a:spcPts val="900"/>
              </a:spcBef>
              <a:buFont typeface="Arial MT"/>
              <a:buChar char="•"/>
              <a:tabLst>
                <a:tab pos="612775" algn="l"/>
              </a:tabLst>
            </a:pPr>
            <a:r>
              <a:rPr sz="1500" spc="-25" dirty="0">
                <a:latin typeface="Arial" panose="020B0604020202020204" pitchFamily="34" charset="0"/>
                <a:cs typeface="Arial" panose="020B0604020202020204" pitchFamily="34" charset="0"/>
              </a:rPr>
              <a:t>STS</a:t>
            </a:r>
            <a:endParaRPr sz="1500" dirty="0">
              <a:latin typeface="Arial" panose="020B0604020202020204" pitchFamily="34" charset="0"/>
              <a:cs typeface="Arial" panose="020B0604020202020204" pitchFamily="34" charset="0"/>
            </a:endParaRPr>
          </a:p>
          <a:p>
            <a:pPr marL="612775" lvl="1" indent="-257175">
              <a:lnSpc>
                <a:spcPct val="100000"/>
              </a:lnSpc>
              <a:spcBef>
                <a:spcPts val="900"/>
              </a:spcBef>
              <a:buFont typeface="Arial MT"/>
              <a:buChar char="•"/>
              <a:tabLst>
                <a:tab pos="612775" algn="l"/>
              </a:tabLst>
            </a:pPr>
            <a:r>
              <a:rPr sz="1500" dirty="0">
                <a:latin typeface="Arial" panose="020B0604020202020204" pitchFamily="34" charset="0"/>
                <a:cs typeface="Arial" panose="020B0604020202020204" pitchFamily="34" charset="0"/>
              </a:rPr>
              <a:t>Spring</a:t>
            </a:r>
            <a:r>
              <a:rPr sz="1500" spc="-25" dirty="0">
                <a:latin typeface="Arial" panose="020B0604020202020204" pitchFamily="34" charset="0"/>
                <a:cs typeface="Arial" panose="020B0604020202020204" pitchFamily="34" charset="0"/>
              </a:rPr>
              <a:t> </a:t>
            </a:r>
            <a:r>
              <a:rPr sz="1500" dirty="0">
                <a:latin typeface="Arial" panose="020B0604020202020204" pitchFamily="34" charset="0"/>
                <a:cs typeface="Arial" panose="020B0604020202020204" pitchFamily="34" charset="0"/>
              </a:rPr>
              <a:t>core,</a:t>
            </a:r>
            <a:r>
              <a:rPr sz="1500" spc="-55" dirty="0">
                <a:latin typeface="Arial" panose="020B0604020202020204" pitchFamily="34" charset="0"/>
                <a:cs typeface="Arial" panose="020B0604020202020204" pitchFamily="34" charset="0"/>
              </a:rPr>
              <a:t> </a:t>
            </a:r>
            <a:r>
              <a:rPr sz="1500" dirty="0">
                <a:latin typeface="Arial" panose="020B0604020202020204" pitchFamily="34" charset="0"/>
                <a:cs typeface="Arial" panose="020B0604020202020204" pitchFamily="34" charset="0"/>
              </a:rPr>
              <a:t>Spring</a:t>
            </a:r>
            <a:r>
              <a:rPr sz="1500" spc="-25" dirty="0">
                <a:latin typeface="Arial" panose="020B0604020202020204" pitchFamily="34" charset="0"/>
                <a:cs typeface="Arial" panose="020B0604020202020204" pitchFamily="34" charset="0"/>
              </a:rPr>
              <a:t> </a:t>
            </a:r>
            <a:r>
              <a:rPr sz="1500" dirty="0">
                <a:latin typeface="Arial" panose="020B0604020202020204" pitchFamily="34" charset="0"/>
                <a:cs typeface="Arial" panose="020B0604020202020204" pitchFamily="34" charset="0"/>
              </a:rPr>
              <a:t>security(jwt)</a:t>
            </a:r>
            <a:r>
              <a:rPr sz="1500" spc="-30" dirty="0">
                <a:latin typeface="Arial" panose="020B0604020202020204" pitchFamily="34" charset="0"/>
                <a:cs typeface="Arial" panose="020B0604020202020204" pitchFamily="34" charset="0"/>
              </a:rPr>
              <a:t> </a:t>
            </a:r>
            <a:r>
              <a:rPr sz="1500" dirty="0">
                <a:latin typeface="Arial" panose="020B0604020202020204" pitchFamily="34" charset="0"/>
                <a:cs typeface="Arial" panose="020B0604020202020204" pitchFamily="34" charset="0"/>
              </a:rPr>
              <a:t>,</a:t>
            </a:r>
            <a:r>
              <a:rPr sz="1500" spc="-50" dirty="0">
                <a:latin typeface="Arial" panose="020B0604020202020204" pitchFamily="34" charset="0"/>
                <a:cs typeface="Arial" panose="020B0604020202020204" pitchFamily="34" charset="0"/>
              </a:rPr>
              <a:t> </a:t>
            </a:r>
            <a:r>
              <a:rPr sz="1500" dirty="0">
                <a:latin typeface="Arial" panose="020B0604020202020204" pitchFamily="34" charset="0"/>
                <a:cs typeface="Arial" panose="020B0604020202020204" pitchFamily="34" charset="0"/>
              </a:rPr>
              <a:t>Spring</a:t>
            </a:r>
            <a:r>
              <a:rPr sz="1500" spc="-25" dirty="0">
                <a:latin typeface="Arial" panose="020B0604020202020204" pitchFamily="34" charset="0"/>
                <a:cs typeface="Arial" panose="020B0604020202020204" pitchFamily="34" charset="0"/>
              </a:rPr>
              <a:t> </a:t>
            </a:r>
            <a:r>
              <a:rPr sz="1500" dirty="0">
                <a:latin typeface="Arial" panose="020B0604020202020204" pitchFamily="34" charset="0"/>
                <a:cs typeface="Arial" panose="020B0604020202020204" pitchFamily="34" charset="0"/>
              </a:rPr>
              <a:t>data</a:t>
            </a:r>
            <a:r>
              <a:rPr sz="1500" spc="-50" dirty="0">
                <a:latin typeface="Arial" panose="020B0604020202020204" pitchFamily="34" charset="0"/>
                <a:cs typeface="Arial" panose="020B0604020202020204" pitchFamily="34" charset="0"/>
              </a:rPr>
              <a:t> </a:t>
            </a:r>
            <a:r>
              <a:rPr sz="1500" dirty="0">
                <a:latin typeface="Arial" panose="020B0604020202020204" pitchFamily="34" charset="0"/>
                <a:cs typeface="Arial" panose="020B0604020202020204" pitchFamily="34" charset="0"/>
              </a:rPr>
              <a:t>JPA(Hibernate)</a:t>
            </a:r>
            <a:r>
              <a:rPr sz="1500" spc="-30" dirty="0">
                <a:latin typeface="Arial" panose="020B0604020202020204" pitchFamily="34" charset="0"/>
                <a:cs typeface="Arial" panose="020B0604020202020204" pitchFamily="34" charset="0"/>
              </a:rPr>
              <a:t> </a:t>
            </a:r>
            <a:r>
              <a:rPr sz="1500" spc="-20" dirty="0">
                <a:latin typeface="Arial" panose="020B0604020202020204" pitchFamily="34" charset="0"/>
                <a:cs typeface="Arial" panose="020B0604020202020204" pitchFamily="34" charset="0"/>
              </a:rPr>
              <a:t>et.c</a:t>
            </a:r>
            <a:endParaRPr sz="1500" dirty="0">
              <a:latin typeface="Arial" panose="020B0604020202020204" pitchFamily="34" charset="0"/>
              <a:cs typeface="Arial" panose="020B0604020202020204" pitchFamily="34" charset="0"/>
            </a:endParaRPr>
          </a:p>
          <a:p>
            <a:pPr lvl="1">
              <a:lnSpc>
                <a:spcPct val="100000"/>
              </a:lnSpc>
              <a:spcBef>
                <a:spcPts val="765"/>
              </a:spcBef>
              <a:buFont typeface="Arial MT"/>
              <a:buChar char="•"/>
            </a:pPr>
            <a:endParaRPr sz="1500" dirty="0">
              <a:latin typeface="Arial" panose="020B0604020202020204" pitchFamily="34" charset="0"/>
              <a:cs typeface="Arial" panose="020B0604020202020204" pitchFamily="34" charset="0"/>
            </a:endParaRPr>
          </a:p>
          <a:p>
            <a:pPr marL="269875" indent="-257175">
              <a:lnSpc>
                <a:spcPct val="100000"/>
              </a:lnSpc>
              <a:spcBef>
                <a:spcPts val="5"/>
              </a:spcBef>
              <a:buFont typeface="Arial MT"/>
              <a:buChar char="•"/>
              <a:tabLst>
                <a:tab pos="269875" algn="l"/>
              </a:tabLst>
            </a:pPr>
            <a:r>
              <a:rPr sz="1500" dirty="0">
                <a:latin typeface="Arial" panose="020B0604020202020204" pitchFamily="34" charset="0"/>
                <a:cs typeface="Arial" panose="020B0604020202020204" pitchFamily="34" charset="0"/>
              </a:rPr>
              <a:t>MySQL</a:t>
            </a:r>
            <a:r>
              <a:rPr sz="1500" spc="-40" dirty="0">
                <a:latin typeface="Arial" panose="020B0604020202020204" pitchFamily="34" charset="0"/>
                <a:cs typeface="Arial" panose="020B0604020202020204" pitchFamily="34" charset="0"/>
              </a:rPr>
              <a:t> </a:t>
            </a:r>
            <a:r>
              <a:rPr sz="1500" spc="-10" dirty="0">
                <a:latin typeface="Arial" panose="020B0604020202020204" pitchFamily="34" charset="0"/>
                <a:cs typeface="Arial" panose="020B0604020202020204" pitchFamily="34" charset="0"/>
              </a:rPr>
              <a:t>Database.</a:t>
            </a:r>
            <a:endParaRPr sz="1500" dirty="0">
              <a:latin typeface="Arial" panose="020B0604020202020204" pitchFamily="34" charset="0"/>
              <a:cs typeface="Arial" panose="020B0604020202020204" pitchFamily="34" charset="0"/>
            </a:endParaRPr>
          </a:p>
          <a:p>
            <a:pPr marL="269875" indent="-257175">
              <a:lnSpc>
                <a:spcPct val="100000"/>
              </a:lnSpc>
              <a:spcBef>
                <a:spcPts val="900"/>
              </a:spcBef>
              <a:buFont typeface="Arial MT"/>
              <a:buChar char="•"/>
              <a:tabLst>
                <a:tab pos="269875" algn="l"/>
              </a:tabLst>
            </a:pPr>
            <a:r>
              <a:rPr sz="1500" dirty="0">
                <a:latin typeface="Arial" panose="020B0604020202020204" pitchFamily="34" charset="0"/>
                <a:cs typeface="Arial" panose="020B0604020202020204" pitchFamily="34" charset="0"/>
              </a:rPr>
              <a:t>Postman</a:t>
            </a:r>
            <a:r>
              <a:rPr sz="1500" spc="-25" dirty="0">
                <a:latin typeface="Arial" panose="020B0604020202020204" pitchFamily="34" charset="0"/>
                <a:cs typeface="Arial" panose="020B0604020202020204" pitchFamily="34" charset="0"/>
              </a:rPr>
              <a:t> </a:t>
            </a:r>
            <a:r>
              <a:rPr sz="1500" dirty="0">
                <a:latin typeface="Arial" panose="020B0604020202020204" pitchFamily="34" charset="0"/>
                <a:cs typeface="Arial" panose="020B0604020202020204" pitchFamily="34" charset="0"/>
              </a:rPr>
              <a:t>Rest</a:t>
            </a:r>
            <a:r>
              <a:rPr sz="1500" spc="-30" dirty="0">
                <a:latin typeface="Arial" panose="020B0604020202020204" pitchFamily="34" charset="0"/>
                <a:cs typeface="Arial" panose="020B0604020202020204" pitchFamily="34" charset="0"/>
              </a:rPr>
              <a:t> </a:t>
            </a:r>
            <a:r>
              <a:rPr sz="1500" spc="-10" dirty="0">
                <a:latin typeface="Arial" panose="020B0604020202020204" pitchFamily="34" charset="0"/>
                <a:cs typeface="Arial" panose="020B0604020202020204" pitchFamily="34" charset="0"/>
              </a:rPr>
              <a:t>Client</a:t>
            </a:r>
            <a:endParaRPr sz="1500" dirty="0">
              <a:latin typeface="Arial" panose="020B0604020202020204" pitchFamily="34" charset="0"/>
              <a:cs typeface="Arial" panose="020B0604020202020204" pitchFamily="34" charset="0"/>
            </a:endParaRPr>
          </a:p>
          <a:p>
            <a:pPr marL="269875" indent="-257175">
              <a:lnSpc>
                <a:spcPct val="100000"/>
              </a:lnSpc>
              <a:spcBef>
                <a:spcPts val="900"/>
              </a:spcBef>
              <a:buFont typeface="Arial MT"/>
              <a:buChar char="•"/>
              <a:tabLst>
                <a:tab pos="269875" algn="l"/>
              </a:tabLst>
            </a:pPr>
            <a:r>
              <a:rPr sz="1500" spc="-10" dirty="0">
                <a:latin typeface="Arial" panose="020B0604020202020204" pitchFamily="34" charset="0"/>
                <a:cs typeface="Arial" panose="020B0604020202020204" pitchFamily="34" charset="0"/>
              </a:rPr>
              <a:t>Swagger</a:t>
            </a:r>
            <a:endParaRPr lang="en-IN" sz="1500" spc="-10" dirty="0">
              <a:latin typeface="Arial" panose="020B0604020202020204" pitchFamily="34" charset="0"/>
              <a:cs typeface="Arial" panose="020B0604020202020204" pitchFamily="34" charset="0"/>
            </a:endParaRPr>
          </a:p>
          <a:p>
            <a:pPr marL="269875" indent="-257175">
              <a:lnSpc>
                <a:spcPct val="100000"/>
              </a:lnSpc>
              <a:spcBef>
                <a:spcPts val="900"/>
              </a:spcBef>
              <a:buFont typeface="Arial MT"/>
              <a:buChar char="•"/>
              <a:tabLst>
                <a:tab pos="269875" algn="l"/>
              </a:tabLst>
            </a:pPr>
            <a:r>
              <a:rPr lang="en-IN" sz="1600" dirty="0"/>
              <a:t>Lombok</a:t>
            </a:r>
            <a:endParaRPr sz="1500" dirty="0">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86867" rIns="0" bIns="0" rtlCol="0">
            <a:spAutoFit/>
          </a:bodyPr>
          <a:lstStyle/>
          <a:p>
            <a:pPr marL="1876425">
              <a:lnSpc>
                <a:spcPct val="100000"/>
              </a:lnSpc>
              <a:spcBef>
                <a:spcPts val="100"/>
              </a:spcBef>
            </a:pPr>
            <a:r>
              <a:rPr sz="3600" b="0" dirty="0">
                <a:solidFill>
                  <a:srgbClr val="FF0000"/>
                </a:solidFill>
                <a:latin typeface="Calibri"/>
                <a:cs typeface="Calibri"/>
              </a:rPr>
              <a:t>SYSTEM</a:t>
            </a:r>
            <a:r>
              <a:rPr sz="3600" b="0" spc="-114" dirty="0">
                <a:solidFill>
                  <a:srgbClr val="FF0000"/>
                </a:solidFill>
                <a:latin typeface="Calibri"/>
                <a:cs typeface="Calibri"/>
              </a:rPr>
              <a:t> </a:t>
            </a:r>
            <a:r>
              <a:rPr sz="3600" b="0" spc="-10" dirty="0">
                <a:solidFill>
                  <a:srgbClr val="FF0000"/>
                </a:solidFill>
                <a:latin typeface="Calibri"/>
                <a:cs typeface="Calibri"/>
              </a:rPr>
              <a:t>REQUIREMENTS</a:t>
            </a:r>
            <a:endParaRPr sz="3600">
              <a:latin typeface="Calibri"/>
              <a:cs typeface="Calibri"/>
            </a:endParaRPr>
          </a:p>
        </p:txBody>
      </p:sp>
      <p:graphicFrame>
        <p:nvGraphicFramePr>
          <p:cNvPr id="4" name="Table 3">
            <a:extLst>
              <a:ext uri="{FF2B5EF4-FFF2-40B4-BE49-F238E27FC236}">
                <a16:creationId xmlns:a16="http://schemas.microsoft.com/office/drawing/2014/main" id="{8B31201C-45F3-E9B9-0096-D5EE7F4EF1C9}"/>
              </a:ext>
            </a:extLst>
          </p:cNvPr>
          <p:cNvGraphicFramePr>
            <a:graphicFrameLocks noGrp="1"/>
          </p:cNvGraphicFramePr>
          <p:nvPr>
            <p:extLst>
              <p:ext uri="{D42A27DB-BD31-4B8C-83A1-F6EECF244321}">
                <p14:modId xmlns:p14="http://schemas.microsoft.com/office/powerpoint/2010/main" val="2242073592"/>
              </p:ext>
            </p:extLst>
          </p:nvPr>
        </p:nvGraphicFramePr>
        <p:xfrm>
          <a:off x="392758" y="1104138"/>
          <a:ext cx="7303442" cy="3349692"/>
        </p:xfrm>
        <a:graphic>
          <a:graphicData uri="http://schemas.openxmlformats.org/drawingml/2006/table">
            <a:tbl>
              <a:tblPr/>
              <a:tblGrid>
                <a:gridCol w="3651721">
                  <a:extLst>
                    <a:ext uri="{9D8B030D-6E8A-4147-A177-3AD203B41FA5}">
                      <a16:colId xmlns:a16="http://schemas.microsoft.com/office/drawing/2014/main" val="3920707044"/>
                    </a:ext>
                  </a:extLst>
                </a:gridCol>
                <a:gridCol w="3651721">
                  <a:extLst>
                    <a:ext uri="{9D8B030D-6E8A-4147-A177-3AD203B41FA5}">
                      <a16:colId xmlns:a16="http://schemas.microsoft.com/office/drawing/2014/main" val="1852354715"/>
                    </a:ext>
                  </a:extLst>
                </a:gridCol>
              </a:tblGrid>
              <a:tr h="627706">
                <a:tc>
                  <a:txBody>
                    <a:bodyPr/>
                    <a:lstStyle/>
                    <a:p>
                      <a:pPr>
                        <a:buNone/>
                      </a:pPr>
                      <a:r>
                        <a:rPr lang="en-IN" sz="1800" b="1" dirty="0"/>
                        <a:t>Operating System</a:t>
                      </a:r>
                      <a:endParaRPr lang="en-IN" sz="1800" dirty="0"/>
                    </a:p>
                  </a:txBody>
                  <a:tcPr marL="89672" marR="89672" marT="44836" marB="44836" anchor="ctr">
                    <a:lnL>
                      <a:noFill/>
                    </a:lnL>
                    <a:lnR>
                      <a:noFill/>
                    </a:lnR>
                    <a:lnT>
                      <a:noFill/>
                    </a:lnT>
                    <a:lnB>
                      <a:noFill/>
                    </a:lnB>
                    <a:noFill/>
                  </a:tcPr>
                </a:tc>
                <a:tc>
                  <a:txBody>
                    <a:bodyPr/>
                    <a:lstStyle/>
                    <a:p>
                      <a:pPr>
                        <a:buNone/>
                      </a:pPr>
                      <a:r>
                        <a:rPr lang="en-IN" sz="1800" dirty="0"/>
                        <a:t>Windows 10  </a:t>
                      </a:r>
                    </a:p>
                  </a:txBody>
                  <a:tcPr marL="89672" marR="89672" marT="44836" marB="44836" anchor="ctr">
                    <a:lnL>
                      <a:noFill/>
                    </a:lnL>
                    <a:lnR>
                      <a:noFill/>
                    </a:lnR>
                    <a:lnT>
                      <a:noFill/>
                    </a:lnT>
                    <a:lnB>
                      <a:noFill/>
                    </a:lnB>
                    <a:noFill/>
                  </a:tcPr>
                </a:tc>
                <a:extLst>
                  <a:ext uri="{0D108BD9-81ED-4DB2-BD59-A6C34878D82A}">
                    <a16:rowId xmlns:a16="http://schemas.microsoft.com/office/drawing/2014/main" val="352401041"/>
                  </a:ext>
                </a:extLst>
              </a:tr>
              <a:tr h="358689">
                <a:tc>
                  <a:txBody>
                    <a:bodyPr/>
                    <a:lstStyle/>
                    <a:p>
                      <a:pPr>
                        <a:buNone/>
                      </a:pPr>
                      <a:r>
                        <a:rPr lang="en-IN" sz="1800" b="1"/>
                        <a:t>Java SDK (JDK)</a:t>
                      </a:r>
                      <a:endParaRPr lang="en-IN" sz="1800"/>
                    </a:p>
                  </a:txBody>
                  <a:tcPr marL="89672" marR="89672" marT="44836" marB="44836" anchor="ctr">
                    <a:lnL>
                      <a:noFill/>
                    </a:lnL>
                    <a:lnR>
                      <a:noFill/>
                    </a:lnR>
                    <a:lnT>
                      <a:noFill/>
                    </a:lnT>
                    <a:lnB>
                      <a:noFill/>
                    </a:lnB>
                    <a:noFill/>
                  </a:tcPr>
                </a:tc>
                <a:tc>
                  <a:txBody>
                    <a:bodyPr/>
                    <a:lstStyle/>
                    <a:p>
                      <a:pPr>
                        <a:buNone/>
                      </a:pPr>
                      <a:r>
                        <a:rPr lang="en-IN" sz="1800"/>
                        <a:t>JDK 17</a:t>
                      </a:r>
                    </a:p>
                  </a:txBody>
                  <a:tcPr marL="89672" marR="89672" marT="44836" marB="44836" anchor="ctr">
                    <a:lnL>
                      <a:noFill/>
                    </a:lnL>
                    <a:lnR>
                      <a:noFill/>
                    </a:lnR>
                    <a:lnT>
                      <a:noFill/>
                    </a:lnT>
                    <a:lnB>
                      <a:noFill/>
                    </a:lnB>
                    <a:noFill/>
                  </a:tcPr>
                </a:tc>
                <a:extLst>
                  <a:ext uri="{0D108BD9-81ED-4DB2-BD59-A6C34878D82A}">
                    <a16:rowId xmlns:a16="http://schemas.microsoft.com/office/drawing/2014/main" val="2137991477"/>
                  </a:ext>
                </a:extLst>
              </a:tr>
              <a:tr h="627706">
                <a:tc>
                  <a:txBody>
                    <a:bodyPr/>
                    <a:lstStyle/>
                    <a:p>
                      <a:pPr>
                        <a:buNone/>
                      </a:pPr>
                      <a:r>
                        <a:rPr lang="en-IN" sz="1800" b="1"/>
                        <a:t>Integrated Development Environment (IDE)</a:t>
                      </a:r>
                      <a:endParaRPr lang="en-IN" sz="1800"/>
                    </a:p>
                  </a:txBody>
                  <a:tcPr marL="89672" marR="89672" marT="44836" marB="44836" anchor="ctr">
                    <a:lnL>
                      <a:noFill/>
                    </a:lnL>
                    <a:lnR>
                      <a:noFill/>
                    </a:lnR>
                    <a:lnT>
                      <a:noFill/>
                    </a:lnT>
                    <a:lnB>
                      <a:noFill/>
                    </a:lnB>
                    <a:noFill/>
                  </a:tcPr>
                </a:tc>
                <a:tc>
                  <a:txBody>
                    <a:bodyPr/>
                    <a:lstStyle/>
                    <a:p>
                      <a:pPr>
                        <a:buNone/>
                      </a:pPr>
                      <a:r>
                        <a:rPr lang="en-IN" sz="1800" dirty="0"/>
                        <a:t>Eclipse </a:t>
                      </a:r>
                    </a:p>
                  </a:txBody>
                  <a:tcPr marL="89672" marR="89672" marT="44836" marB="44836" anchor="ctr">
                    <a:lnL>
                      <a:noFill/>
                    </a:lnL>
                    <a:lnR>
                      <a:noFill/>
                    </a:lnR>
                    <a:lnT>
                      <a:noFill/>
                    </a:lnT>
                    <a:lnB>
                      <a:noFill/>
                    </a:lnB>
                    <a:noFill/>
                  </a:tcPr>
                </a:tc>
                <a:extLst>
                  <a:ext uri="{0D108BD9-81ED-4DB2-BD59-A6C34878D82A}">
                    <a16:rowId xmlns:a16="http://schemas.microsoft.com/office/drawing/2014/main" val="52914622"/>
                  </a:ext>
                </a:extLst>
              </a:tr>
              <a:tr h="627706">
                <a:tc>
                  <a:txBody>
                    <a:bodyPr/>
                    <a:lstStyle/>
                    <a:p>
                      <a:pPr>
                        <a:buNone/>
                      </a:pPr>
                      <a:r>
                        <a:rPr lang="en-IN" sz="1800" b="1"/>
                        <a:t>Database Server</a:t>
                      </a:r>
                      <a:endParaRPr lang="en-IN" sz="1800"/>
                    </a:p>
                  </a:txBody>
                  <a:tcPr marL="89672" marR="89672" marT="44836" marB="44836" anchor="ctr">
                    <a:lnL>
                      <a:noFill/>
                    </a:lnL>
                    <a:lnR>
                      <a:noFill/>
                    </a:lnR>
                    <a:lnT>
                      <a:noFill/>
                    </a:lnT>
                    <a:lnB>
                      <a:noFill/>
                    </a:lnB>
                    <a:noFill/>
                  </a:tcPr>
                </a:tc>
                <a:tc>
                  <a:txBody>
                    <a:bodyPr/>
                    <a:lstStyle/>
                    <a:p>
                      <a:pPr>
                        <a:buNone/>
                      </a:pPr>
                      <a:r>
                        <a:rPr lang="en-IN" sz="1800"/>
                        <a:t>MySQL 8.0</a:t>
                      </a:r>
                    </a:p>
                  </a:txBody>
                  <a:tcPr marL="89672" marR="89672" marT="44836" marB="44836" anchor="ctr">
                    <a:lnL>
                      <a:noFill/>
                    </a:lnL>
                    <a:lnR>
                      <a:noFill/>
                    </a:lnR>
                    <a:lnT>
                      <a:noFill/>
                    </a:lnT>
                    <a:lnB>
                      <a:noFill/>
                    </a:lnB>
                    <a:noFill/>
                  </a:tcPr>
                </a:tc>
                <a:extLst>
                  <a:ext uri="{0D108BD9-81ED-4DB2-BD59-A6C34878D82A}">
                    <a16:rowId xmlns:a16="http://schemas.microsoft.com/office/drawing/2014/main" val="746125926"/>
                  </a:ext>
                </a:extLst>
              </a:tr>
              <a:tr h="358689">
                <a:tc>
                  <a:txBody>
                    <a:bodyPr/>
                    <a:lstStyle/>
                    <a:p>
                      <a:pPr>
                        <a:buNone/>
                      </a:pPr>
                      <a:r>
                        <a:rPr lang="en-IN" sz="1800" b="1"/>
                        <a:t>Build Tool</a:t>
                      </a:r>
                      <a:endParaRPr lang="en-IN" sz="1800"/>
                    </a:p>
                  </a:txBody>
                  <a:tcPr marL="89672" marR="89672" marT="44836" marB="44836" anchor="ctr">
                    <a:lnL>
                      <a:noFill/>
                    </a:lnL>
                    <a:lnR>
                      <a:noFill/>
                    </a:lnR>
                    <a:lnT>
                      <a:noFill/>
                    </a:lnT>
                    <a:lnB>
                      <a:noFill/>
                    </a:lnB>
                    <a:noFill/>
                  </a:tcPr>
                </a:tc>
                <a:tc>
                  <a:txBody>
                    <a:bodyPr/>
                    <a:lstStyle/>
                    <a:p>
                      <a:pPr>
                        <a:buNone/>
                      </a:pPr>
                      <a:r>
                        <a:rPr lang="en-IN" sz="1800"/>
                        <a:t>Maven 3.6</a:t>
                      </a:r>
                    </a:p>
                  </a:txBody>
                  <a:tcPr marL="89672" marR="89672" marT="44836" marB="44836" anchor="ctr">
                    <a:lnL>
                      <a:noFill/>
                    </a:lnL>
                    <a:lnR>
                      <a:noFill/>
                    </a:lnR>
                    <a:lnT>
                      <a:noFill/>
                    </a:lnT>
                    <a:lnB>
                      <a:noFill/>
                    </a:lnB>
                    <a:noFill/>
                  </a:tcPr>
                </a:tc>
                <a:extLst>
                  <a:ext uri="{0D108BD9-81ED-4DB2-BD59-A6C34878D82A}">
                    <a16:rowId xmlns:a16="http://schemas.microsoft.com/office/drawing/2014/main" val="1764255292"/>
                  </a:ext>
                </a:extLst>
              </a:tr>
              <a:tr h="358689">
                <a:tc>
                  <a:txBody>
                    <a:bodyPr/>
                    <a:lstStyle/>
                    <a:p>
                      <a:pPr>
                        <a:buNone/>
                      </a:pPr>
                      <a:r>
                        <a:rPr lang="en-IN" sz="1800" b="1"/>
                        <a:t>API Testing</a:t>
                      </a:r>
                      <a:endParaRPr lang="en-IN" sz="1800"/>
                    </a:p>
                  </a:txBody>
                  <a:tcPr marL="89672" marR="89672" marT="44836" marB="44836" anchor="ctr">
                    <a:lnL>
                      <a:noFill/>
                    </a:lnL>
                    <a:lnR>
                      <a:noFill/>
                    </a:lnR>
                    <a:lnT>
                      <a:noFill/>
                    </a:lnT>
                    <a:lnB>
                      <a:noFill/>
                    </a:lnB>
                    <a:noFill/>
                  </a:tcPr>
                </a:tc>
                <a:tc>
                  <a:txBody>
                    <a:bodyPr/>
                    <a:lstStyle/>
                    <a:p>
                      <a:pPr>
                        <a:buNone/>
                      </a:pPr>
                      <a:r>
                        <a:rPr lang="en-IN" sz="1800"/>
                        <a:t>Browser</a:t>
                      </a:r>
                    </a:p>
                  </a:txBody>
                  <a:tcPr marL="89672" marR="89672" marT="44836" marB="44836" anchor="ctr">
                    <a:lnL>
                      <a:noFill/>
                    </a:lnL>
                    <a:lnR>
                      <a:noFill/>
                    </a:lnR>
                    <a:lnT>
                      <a:noFill/>
                    </a:lnT>
                    <a:lnB>
                      <a:noFill/>
                    </a:lnB>
                    <a:noFill/>
                  </a:tcPr>
                </a:tc>
                <a:extLst>
                  <a:ext uri="{0D108BD9-81ED-4DB2-BD59-A6C34878D82A}">
                    <a16:rowId xmlns:a16="http://schemas.microsoft.com/office/drawing/2014/main" val="1655453736"/>
                  </a:ext>
                </a:extLst>
              </a:tr>
              <a:tr h="358689">
                <a:tc>
                  <a:txBody>
                    <a:bodyPr/>
                    <a:lstStyle/>
                    <a:p>
                      <a:pPr>
                        <a:buNone/>
                      </a:pPr>
                      <a:r>
                        <a:rPr lang="en-IN" sz="1800" b="1"/>
                        <a:t>Documentation</a:t>
                      </a:r>
                      <a:endParaRPr lang="en-IN" sz="1800"/>
                    </a:p>
                  </a:txBody>
                  <a:tcPr marL="89672" marR="89672" marT="44836" marB="44836" anchor="ctr">
                    <a:lnL>
                      <a:noFill/>
                    </a:lnL>
                    <a:lnR>
                      <a:noFill/>
                    </a:lnR>
                    <a:lnT>
                      <a:noFill/>
                    </a:lnT>
                    <a:lnB>
                      <a:noFill/>
                    </a:lnB>
                    <a:noFill/>
                  </a:tcPr>
                </a:tc>
                <a:tc>
                  <a:txBody>
                    <a:bodyPr/>
                    <a:lstStyle/>
                    <a:p>
                      <a:pPr>
                        <a:buNone/>
                      </a:pPr>
                      <a:r>
                        <a:rPr lang="en-IN" sz="1800" dirty="0"/>
                        <a:t>Text File</a:t>
                      </a:r>
                    </a:p>
                  </a:txBody>
                  <a:tcPr marL="89672" marR="89672" marT="44836" marB="44836" anchor="ctr">
                    <a:lnL>
                      <a:noFill/>
                    </a:lnL>
                    <a:lnR>
                      <a:noFill/>
                    </a:lnR>
                    <a:lnT>
                      <a:noFill/>
                    </a:lnT>
                    <a:lnB>
                      <a:noFill/>
                    </a:lnB>
                    <a:noFill/>
                  </a:tcPr>
                </a:tc>
                <a:extLst>
                  <a:ext uri="{0D108BD9-81ED-4DB2-BD59-A6C34878D82A}">
                    <a16:rowId xmlns:a16="http://schemas.microsoft.com/office/drawing/2014/main" val="200542004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03982" y="-127254"/>
            <a:ext cx="4251960" cy="696595"/>
          </a:xfrm>
          <a:prstGeom prst="rect">
            <a:avLst/>
          </a:prstGeom>
        </p:spPr>
        <p:txBody>
          <a:bodyPr vert="horz" wrap="square" lIns="0" tIns="13335" rIns="0" bIns="0" rtlCol="0">
            <a:spAutoFit/>
          </a:bodyPr>
          <a:lstStyle/>
          <a:p>
            <a:pPr marL="12700">
              <a:lnSpc>
                <a:spcPct val="100000"/>
              </a:lnSpc>
              <a:spcBef>
                <a:spcPts val="105"/>
              </a:spcBef>
            </a:pPr>
            <a:r>
              <a:rPr sz="4400" dirty="0"/>
              <a:t>PROJECT</a:t>
            </a:r>
            <a:r>
              <a:rPr sz="4400" spc="-180" dirty="0"/>
              <a:t> </a:t>
            </a:r>
            <a:r>
              <a:rPr sz="4400" spc="-10" dirty="0"/>
              <a:t>MODULE</a:t>
            </a:r>
            <a:endParaRPr sz="4400"/>
          </a:p>
        </p:txBody>
      </p:sp>
      <p:sp>
        <p:nvSpPr>
          <p:cNvPr id="3" name="object 3"/>
          <p:cNvSpPr txBox="1"/>
          <p:nvPr/>
        </p:nvSpPr>
        <p:spPr>
          <a:xfrm>
            <a:off x="1222044" y="753236"/>
            <a:ext cx="6855156" cy="3910686"/>
          </a:xfrm>
          <a:prstGeom prst="rect">
            <a:avLst/>
          </a:prstGeom>
        </p:spPr>
        <p:txBody>
          <a:bodyPr vert="horz" wrap="square" lIns="0" tIns="12065" rIns="0" bIns="0" rtlCol="0">
            <a:spAutoFit/>
          </a:bodyPr>
          <a:lstStyle/>
          <a:p>
            <a:pPr marL="525780" indent="-514350">
              <a:lnSpc>
                <a:spcPct val="100000"/>
              </a:lnSpc>
              <a:spcBef>
                <a:spcPts val="3365"/>
              </a:spcBef>
              <a:buClr>
                <a:srgbClr val="FF0000"/>
              </a:buClr>
              <a:buSzPct val="96428"/>
              <a:buAutoNum type="arabicPeriod"/>
              <a:tabLst>
                <a:tab pos="328930" algn="l"/>
              </a:tabLst>
            </a:pPr>
            <a:r>
              <a:rPr lang="en-IN" sz="2800" dirty="0"/>
              <a:t>Identity &amp; Security Module </a:t>
            </a:r>
          </a:p>
          <a:p>
            <a:pPr marL="525780" indent="-514350">
              <a:lnSpc>
                <a:spcPct val="100000"/>
              </a:lnSpc>
              <a:spcBef>
                <a:spcPts val="3365"/>
              </a:spcBef>
              <a:buClr>
                <a:srgbClr val="FF0000"/>
              </a:buClr>
              <a:buSzPct val="96428"/>
              <a:buAutoNum type="arabicPeriod"/>
              <a:tabLst>
                <a:tab pos="328930" algn="l"/>
              </a:tabLst>
            </a:pPr>
            <a:r>
              <a:rPr lang="en-IN" sz="2800" dirty="0"/>
              <a:t>Employee Core Module </a:t>
            </a:r>
          </a:p>
          <a:p>
            <a:pPr marL="525780" indent="-514350">
              <a:lnSpc>
                <a:spcPct val="100000"/>
              </a:lnSpc>
              <a:spcBef>
                <a:spcPts val="3365"/>
              </a:spcBef>
              <a:buClr>
                <a:srgbClr val="FF0000"/>
              </a:buClr>
              <a:buSzPct val="96428"/>
              <a:buAutoNum type="arabicPeriod"/>
              <a:tabLst>
                <a:tab pos="328930" algn="l"/>
              </a:tabLst>
            </a:pPr>
            <a:r>
              <a:rPr lang="en-IN" sz="2800" dirty="0"/>
              <a:t>Validation &amp; Exception Module</a:t>
            </a:r>
          </a:p>
          <a:p>
            <a:pPr marL="525780" indent="-514350">
              <a:lnSpc>
                <a:spcPct val="100000"/>
              </a:lnSpc>
              <a:spcBef>
                <a:spcPts val="3365"/>
              </a:spcBef>
              <a:buClr>
                <a:srgbClr val="FF0000"/>
              </a:buClr>
              <a:buSzPct val="96428"/>
              <a:buAutoNum type="arabicPeriod"/>
              <a:tabLst>
                <a:tab pos="328930" algn="l"/>
              </a:tabLst>
            </a:pPr>
            <a:r>
              <a:rPr lang="en-IN" sz="2800" dirty="0"/>
              <a:t>AOP Logging &amp; Audit Module</a:t>
            </a:r>
          </a:p>
          <a:p>
            <a:pPr marL="525780" indent="-514350">
              <a:lnSpc>
                <a:spcPct val="100000"/>
              </a:lnSpc>
              <a:spcBef>
                <a:spcPts val="3365"/>
              </a:spcBef>
              <a:buClr>
                <a:srgbClr val="FF0000"/>
              </a:buClr>
              <a:buSzPct val="96428"/>
              <a:buAutoNum type="arabicPeriod"/>
              <a:tabLst>
                <a:tab pos="328930" algn="l"/>
              </a:tabLst>
            </a:pPr>
            <a:r>
              <a:rPr lang="en-IN" sz="2800" dirty="0"/>
              <a:t>Infrastructure &amp; Documentation Module</a:t>
            </a:r>
            <a:endParaRPr sz="2800" dirty="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3779" rIns="0" bIns="0" rtlCol="0">
            <a:spAutoFit/>
          </a:bodyPr>
          <a:lstStyle/>
          <a:p>
            <a:pPr marL="2562225">
              <a:lnSpc>
                <a:spcPct val="100000"/>
              </a:lnSpc>
              <a:spcBef>
                <a:spcPts val="95"/>
              </a:spcBef>
            </a:pPr>
            <a:r>
              <a:rPr sz="2800" dirty="0">
                <a:solidFill>
                  <a:srgbClr val="FF0000"/>
                </a:solidFill>
              </a:rPr>
              <a:t>ER</a:t>
            </a:r>
            <a:r>
              <a:rPr sz="2800" spc="-5" dirty="0">
                <a:solidFill>
                  <a:srgbClr val="FF0000"/>
                </a:solidFill>
              </a:rPr>
              <a:t> </a:t>
            </a:r>
            <a:r>
              <a:rPr sz="2800" spc="-10" dirty="0">
                <a:solidFill>
                  <a:srgbClr val="FF0000"/>
                </a:solidFill>
              </a:rPr>
              <a:t>DIAGRAM</a:t>
            </a:r>
            <a:endParaRPr sz="2800" dirty="0"/>
          </a:p>
        </p:txBody>
      </p:sp>
      <p:pic>
        <p:nvPicPr>
          <p:cNvPr id="5" name="Picture 4">
            <a:extLst>
              <a:ext uri="{FF2B5EF4-FFF2-40B4-BE49-F238E27FC236}">
                <a16:creationId xmlns:a16="http://schemas.microsoft.com/office/drawing/2014/main" id="{3F5BC647-B18E-B6C6-89CD-2E4AC6D60B14}"/>
              </a:ext>
            </a:extLst>
          </p:cNvPr>
          <p:cNvPicPr>
            <a:picLocks noChangeAspect="1"/>
          </p:cNvPicPr>
          <p:nvPr/>
        </p:nvPicPr>
        <p:blipFill>
          <a:blip r:embed="rId2"/>
          <a:stretch>
            <a:fillRect/>
          </a:stretch>
        </p:blipFill>
        <p:spPr>
          <a:xfrm>
            <a:off x="348792" y="590550"/>
            <a:ext cx="8446414" cy="4343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5143500"/>
          </a:xfrm>
          <a:custGeom>
            <a:avLst/>
            <a:gdLst/>
            <a:ahLst/>
            <a:cxnLst/>
            <a:rect l="l" t="t" r="r" b="b"/>
            <a:pathLst>
              <a:path w="9144000" h="5143500">
                <a:moveTo>
                  <a:pt x="0" y="5143500"/>
                </a:moveTo>
                <a:lnTo>
                  <a:pt x="9144000" y="5143500"/>
                </a:lnTo>
                <a:lnTo>
                  <a:pt x="9144000" y="0"/>
                </a:lnTo>
                <a:lnTo>
                  <a:pt x="0" y="0"/>
                </a:lnTo>
                <a:lnTo>
                  <a:pt x="0" y="5143500"/>
                </a:lnTo>
                <a:close/>
              </a:path>
            </a:pathLst>
          </a:custGeom>
          <a:ln w="127000">
            <a:solidFill>
              <a:srgbClr val="252525"/>
            </a:solidFill>
          </a:ln>
        </p:spPr>
        <p:txBody>
          <a:bodyPr wrap="square" lIns="0" tIns="0" rIns="0" bIns="0" rtlCol="0"/>
          <a:lstStyle/>
          <a:p>
            <a:endParaRPr/>
          </a:p>
        </p:txBody>
      </p:sp>
      <p:sp>
        <p:nvSpPr>
          <p:cNvPr id="3" name="object 3"/>
          <p:cNvSpPr txBox="1">
            <a:spLocks noGrp="1"/>
          </p:cNvSpPr>
          <p:nvPr>
            <p:ph type="title"/>
          </p:nvPr>
        </p:nvSpPr>
        <p:spPr>
          <a:xfrm>
            <a:off x="405053" y="-253530"/>
            <a:ext cx="8446414" cy="1048842"/>
          </a:xfrm>
          <a:prstGeom prst="rect">
            <a:avLst/>
          </a:prstGeom>
        </p:spPr>
        <p:txBody>
          <a:bodyPr vert="horz" wrap="square" lIns="0" tIns="443687" rIns="0" bIns="0" rtlCol="0">
            <a:spAutoFit/>
          </a:bodyPr>
          <a:lstStyle/>
          <a:p>
            <a:pPr marL="12700">
              <a:lnSpc>
                <a:spcPct val="100000"/>
              </a:lnSpc>
              <a:spcBef>
                <a:spcPts val="105"/>
              </a:spcBef>
            </a:pPr>
            <a:r>
              <a:rPr sz="2300" u="sng" dirty="0">
                <a:solidFill>
                  <a:srgbClr val="FF0000"/>
                </a:solidFill>
                <a:uFill>
                  <a:solidFill>
                    <a:srgbClr val="FF0000"/>
                  </a:solidFill>
                </a:uFill>
                <a:latin typeface="Ebrima"/>
                <a:cs typeface="Ebrima"/>
              </a:rPr>
              <a:t>Client</a:t>
            </a:r>
            <a:r>
              <a:rPr sz="2300" u="sng" spc="-35" dirty="0">
                <a:solidFill>
                  <a:srgbClr val="FF0000"/>
                </a:solidFill>
                <a:uFill>
                  <a:solidFill>
                    <a:srgbClr val="FF0000"/>
                  </a:solidFill>
                </a:uFill>
                <a:latin typeface="Ebrima"/>
                <a:cs typeface="Ebrima"/>
              </a:rPr>
              <a:t> </a:t>
            </a:r>
            <a:r>
              <a:rPr sz="2300" u="sng" dirty="0">
                <a:solidFill>
                  <a:srgbClr val="FF0000"/>
                </a:solidFill>
                <a:uFill>
                  <a:solidFill>
                    <a:srgbClr val="FF0000"/>
                  </a:solidFill>
                </a:uFill>
                <a:latin typeface="Ebrima"/>
                <a:cs typeface="Ebrima"/>
              </a:rPr>
              <a:t>–</a:t>
            </a:r>
            <a:r>
              <a:rPr sz="2300" u="sng" spc="-15" dirty="0">
                <a:solidFill>
                  <a:srgbClr val="FF0000"/>
                </a:solidFill>
                <a:uFill>
                  <a:solidFill>
                    <a:srgbClr val="FF0000"/>
                  </a:solidFill>
                </a:uFill>
                <a:latin typeface="Ebrima"/>
                <a:cs typeface="Ebrima"/>
              </a:rPr>
              <a:t> </a:t>
            </a:r>
            <a:r>
              <a:rPr sz="2300" u="sng" dirty="0">
                <a:solidFill>
                  <a:srgbClr val="FF0000"/>
                </a:solidFill>
                <a:uFill>
                  <a:solidFill>
                    <a:srgbClr val="FF0000"/>
                  </a:solidFill>
                </a:uFill>
                <a:latin typeface="Ebrima"/>
                <a:cs typeface="Ebrima"/>
              </a:rPr>
              <a:t>Server</a:t>
            </a:r>
            <a:r>
              <a:rPr sz="2300" u="sng" spc="-15" dirty="0">
                <a:solidFill>
                  <a:srgbClr val="FF0000"/>
                </a:solidFill>
                <a:uFill>
                  <a:solidFill>
                    <a:srgbClr val="FF0000"/>
                  </a:solidFill>
                </a:uFill>
                <a:latin typeface="Ebrima"/>
                <a:cs typeface="Ebrima"/>
              </a:rPr>
              <a:t> </a:t>
            </a:r>
            <a:r>
              <a:rPr sz="2300" u="sng" spc="-10" dirty="0">
                <a:solidFill>
                  <a:srgbClr val="FF0000"/>
                </a:solidFill>
                <a:uFill>
                  <a:solidFill>
                    <a:srgbClr val="FF0000"/>
                  </a:solidFill>
                </a:uFill>
                <a:latin typeface="Ebrima"/>
                <a:cs typeface="Ebrima"/>
              </a:rPr>
              <a:t>Architecture</a:t>
            </a:r>
            <a:endParaRPr sz="2300" dirty="0">
              <a:latin typeface="Ebrima"/>
              <a:cs typeface="Ebrima"/>
            </a:endParaRPr>
          </a:p>
        </p:txBody>
      </p:sp>
      <p:pic>
        <p:nvPicPr>
          <p:cNvPr id="36" name="Picture 35">
            <a:extLst>
              <a:ext uri="{FF2B5EF4-FFF2-40B4-BE49-F238E27FC236}">
                <a16:creationId xmlns:a16="http://schemas.microsoft.com/office/drawing/2014/main" id="{7D8EF36F-D5A9-A2E8-9679-6C5F07B27C1F}"/>
              </a:ext>
            </a:extLst>
          </p:cNvPr>
          <p:cNvPicPr>
            <a:picLocks noChangeAspect="1"/>
          </p:cNvPicPr>
          <p:nvPr/>
        </p:nvPicPr>
        <p:blipFill>
          <a:blip r:embed="rId2"/>
          <a:stretch>
            <a:fillRect/>
          </a:stretch>
        </p:blipFill>
        <p:spPr>
          <a:xfrm>
            <a:off x="76201" y="514350"/>
            <a:ext cx="8915400" cy="4419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3500" y="-63500"/>
            <a:ext cx="9271000" cy="5270500"/>
            <a:chOff x="-63500" y="-63500"/>
            <a:chExt cx="9271000" cy="5270500"/>
          </a:xfrm>
        </p:grpSpPr>
        <p:sp>
          <p:nvSpPr>
            <p:cNvPr id="3" name="object 3"/>
            <p:cNvSpPr/>
            <p:nvPr/>
          </p:nvSpPr>
          <p:spPr>
            <a:xfrm>
              <a:off x="0" y="0"/>
              <a:ext cx="9144000" cy="5143500"/>
            </a:xfrm>
            <a:custGeom>
              <a:avLst/>
              <a:gdLst/>
              <a:ahLst/>
              <a:cxnLst/>
              <a:rect l="l" t="t" r="r" b="b"/>
              <a:pathLst>
                <a:path w="9144000" h="5143500">
                  <a:moveTo>
                    <a:pt x="0" y="5143500"/>
                  </a:moveTo>
                  <a:lnTo>
                    <a:pt x="9144000" y="5143500"/>
                  </a:lnTo>
                  <a:lnTo>
                    <a:pt x="9144000" y="0"/>
                  </a:lnTo>
                  <a:lnTo>
                    <a:pt x="0" y="0"/>
                  </a:lnTo>
                  <a:lnTo>
                    <a:pt x="0" y="5143500"/>
                  </a:lnTo>
                  <a:close/>
                </a:path>
              </a:pathLst>
            </a:custGeom>
            <a:ln w="127000">
              <a:solidFill>
                <a:srgbClr val="252525"/>
              </a:solidFill>
            </a:ln>
          </p:spPr>
          <p:txBody>
            <a:bodyPr wrap="square" lIns="0" tIns="0" rIns="0" bIns="0" rtlCol="0"/>
            <a:lstStyle/>
            <a:p>
              <a:endParaRPr/>
            </a:p>
          </p:txBody>
        </p:sp>
        <p:sp>
          <p:nvSpPr>
            <p:cNvPr id="4" name="object 4"/>
            <p:cNvSpPr/>
            <p:nvPr/>
          </p:nvSpPr>
          <p:spPr>
            <a:xfrm>
              <a:off x="7834248" y="2235327"/>
              <a:ext cx="1017269" cy="1489075"/>
            </a:xfrm>
            <a:custGeom>
              <a:avLst/>
              <a:gdLst/>
              <a:ahLst/>
              <a:cxnLst/>
              <a:rect l="l" t="t" r="r" b="b"/>
              <a:pathLst>
                <a:path w="1017270" h="1489075">
                  <a:moveTo>
                    <a:pt x="508507" y="0"/>
                  </a:moveTo>
                  <a:lnTo>
                    <a:pt x="444705" y="1933"/>
                  </a:lnTo>
                  <a:lnTo>
                    <a:pt x="383272" y="7580"/>
                  </a:lnTo>
                  <a:lnTo>
                    <a:pt x="324685" y="16706"/>
                  </a:lnTo>
                  <a:lnTo>
                    <a:pt x="269419" y="29079"/>
                  </a:lnTo>
                  <a:lnTo>
                    <a:pt x="217950" y="44467"/>
                  </a:lnTo>
                  <a:lnTo>
                    <a:pt x="170754" y="62636"/>
                  </a:lnTo>
                  <a:lnTo>
                    <a:pt x="128307" y="83354"/>
                  </a:lnTo>
                  <a:lnTo>
                    <a:pt x="91085" y="106389"/>
                  </a:lnTo>
                  <a:lnTo>
                    <a:pt x="59563" y="131506"/>
                  </a:lnTo>
                  <a:lnTo>
                    <a:pt x="15525" y="187061"/>
                  </a:lnTo>
                  <a:lnTo>
                    <a:pt x="0" y="248158"/>
                  </a:lnTo>
                  <a:lnTo>
                    <a:pt x="0" y="1240917"/>
                  </a:lnTo>
                  <a:lnTo>
                    <a:pt x="15525" y="1302013"/>
                  </a:lnTo>
                  <a:lnTo>
                    <a:pt x="59563" y="1357568"/>
                  </a:lnTo>
                  <a:lnTo>
                    <a:pt x="91085" y="1382685"/>
                  </a:lnTo>
                  <a:lnTo>
                    <a:pt x="128307" y="1405720"/>
                  </a:lnTo>
                  <a:lnTo>
                    <a:pt x="170754" y="1426438"/>
                  </a:lnTo>
                  <a:lnTo>
                    <a:pt x="217950" y="1444607"/>
                  </a:lnTo>
                  <a:lnTo>
                    <a:pt x="269419" y="1459995"/>
                  </a:lnTo>
                  <a:lnTo>
                    <a:pt x="324685" y="1472368"/>
                  </a:lnTo>
                  <a:lnTo>
                    <a:pt x="383272" y="1481494"/>
                  </a:lnTo>
                  <a:lnTo>
                    <a:pt x="444705" y="1487141"/>
                  </a:lnTo>
                  <a:lnTo>
                    <a:pt x="508507" y="1489075"/>
                  </a:lnTo>
                  <a:lnTo>
                    <a:pt x="572285" y="1487141"/>
                  </a:lnTo>
                  <a:lnTo>
                    <a:pt x="633701" y="1481494"/>
                  </a:lnTo>
                  <a:lnTo>
                    <a:pt x="692278" y="1472368"/>
                  </a:lnTo>
                  <a:lnTo>
                    <a:pt x="747540" y="1459995"/>
                  </a:lnTo>
                  <a:lnTo>
                    <a:pt x="799010" y="1444607"/>
                  </a:lnTo>
                  <a:lnTo>
                    <a:pt x="846210" y="1426438"/>
                  </a:lnTo>
                  <a:lnTo>
                    <a:pt x="888664" y="1405720"/>
                  </a:lnTo>
                  <a:lnTo>
                    <a:pt x="925896" y="1382685"/>
                  </a:lnTo>
                  <a:lnTo>
                    <a:pt x="957427" y="1357568"/>
                  </a:lnTo>
                  <a:lnTo>
                    <a:pt x="1001483" y="1302013"/>
                  </a:lnTo>
                  <a:lnTo>
                    <a:pt x="1017016" y="1240917"/>
                  </a:lnTo>
                  <a:lnTo>
                    <a:pt x="1017016" y="248158"/>
                  </a:lnTo>
                  <a:lnTo>
                    <a:pt x="1001483" y="187061"/>
                  </a:lnTo>
                  <a:lnTo>
                    <a:pt x="957427" y="131506"/>
                  </a:lnTo>
                  <a:lnTo>
                    <a:pt x="925896" y="106389"/>
                  </a:lnTo>
                  <a:lnTo>
                    <a:pt x="888664" y="83354"/>
                  </a:lnTo>
                  <a:lnTo>
                    <a:pt x="846210" y="62636"/>
                  </a:lnTo>
                  <a:lnTo>
                    <a:pt x="799010" y="44467"/>
                  </a:lnTo>
                  <a:lnTo>
                    <a:pt x="747540" y="29079"/>
                  </a:lnTo>
                  <a:lnTo>
                    <a:pt x="692278" y="16706"/>
                  </a:lnTo>
                  <a:lnTo>
                    <a:pt x="633701" y="7580"/>
                  </a:lnTo>
                  <a:lnTo>
                    <a:pt x="572285" y="1933"/>
                  </a:lnTo>
                  <a:lnTo>
                    <a:pt x="508507" y="0"/>
                  </a:lnTo>
                  <a:close/>
                </a:path>
              </a:pathLst>
            </a:custGeom>
            <a:solidFill>
              <a:srgbClr val="F79546"/>
            </a:solidFill>
          </p:spPr>
          <p:txBody>
            <a:bodyPr wrap="square" lIns="0" tIns="0" rIns="0" bIns="0" rtlCol="0"/>
            <a:lstStyle/>
            <a:p>
              <a:endParaRPr/>
            </a:p>
          </p:txBody>
        </p:sp>
      </p:grpSp>
      <p:sp>
        <p:nvSpPr>
          <p:cNvPr id="5" name="object 5"/>
          <p:cNvSpPr txBox="1"/>
          <p:nvPr/>
        </p:nvSpPr>
        <p:spPr>
          <a:xfrm>
            <a:off x="7897748" y="2939542"/>
            <a:ext cx="890269"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FFFFFF"/>
                </a:solidFill>
                <a:latin typeface="Calibri"/>
                <a:cs typeface="Calibri"/>
              </a:rPr>
              <a:t>Database</a:t>
            </a:r>
            <a:endParaRPr sz="1800">
              <a:latin typeface="Calibri"/>
              <a:cs typeface="Calibri"/>
            </a:endParaRPr>
          </a:p>
        </p:txBody>
      </p:sp>
      <p:sp>
        <p:nvSpPr>
          <p:cNvPr id="6" name="object 6"/>
          <p:cNvSpPr txBox="1"/>
          <p:nvPr/>
        </p:nvSpPr>
        <p:spPr>
          <a:xfrm>
            <a:off x="229679" y="2357094"/>
            <a:ext cx="902335" cy="1245870"/>
          </a:xfrm>
          <a:prstGeom prst="rect">
            <a:avLst/>
          </a:prstGeom>
          <a:solidFill>
            <a:srgbClr val="4F81BC"/>
          </a:solidFill>
        </p:spPr>
        <p:txBody>
          <a:bodyPr vert="horz" wrap="square" lIns="0" tIns="196850" rIns="0" bIns="0" rtlCol="0">
            <a:spAutoFit/>
          </a:bodyPr>
          <a:lstStyle/>
          <a:p>
            <a:pPr marL="105410" marR="99695" algn="ctr">
              <a:lnSpc>
                <a:spcPct val="100000"/>
              </a:lnSpc>
              <a:spcBef>
                <a:spcPts val="1550"/>
              </a:spcBef>
            </a:pPr>
            <a:r>
              <a:rPr sz="1800" spc="-20" dirty="0">
                <a:solidFill>
                  <a:srgbClr val="FFFFFF"/>
                </a:solidFill>
                <a:latin typeface="Calibri"/>
                <a:cs typeface="Calibri"/>
              </a:rPr>
              <a:t>Postma </a:t>
            </a:r>
            <a:r>
              <a:rPr sz="1800" spc="-50" dirty="0">
                <a:solidFill>
                  <a:srgbClr val="FFFFFF"/>
                </a:solidFill>
                <a:latin typeface="Calibri"/>
                <a:cs typeface="Calibri"/>
              </a:rPr>
              <a:t>n </a:t>
            </a:r>
            <a:r>
              <a:rPr sz="1800" spc="-10" dirty="0">
                <a:solidFill>
                  <a:srgbClr val="FFFFFF"/>
                </a:solidFill>
                <a:latin typeface="Calibri"/>
                <a:cs typeface="Calibri"/>
              </a:rPr>
              <a:t>(Client)</a:t>
            </a:r>
            <a:endParaRPr sz="1800">
              <a:latin typeface="Calibri"/>
              <a:cs typeface="Calibri"/>
            </a:endParaRPr>
          </a:p>
        </p:txBody>
      </p:sp>
      <p:sp>
        <p:nvSpPr>
          <p:cNvPr id="7" name="object 7"/>
          <p:cNvSpPr txBox="1"/>
          <p:nvPr/>
        </p:nvSpPr>
        <p:spPr>
          <a:xfrm>
            <a:off x="2342133" y="1842007"/>
            <a:ext cx="1322705" cy="2316480"/>
          </a:xfrm>
          <a:prstGeom prst="rect">
            <a:avLst/>
          </a:prstGeom>
          <a:solidFill>
            <a:srgbClr val="8063A1"/>
          </a:solidFill>
        </p:spPr>
        <p:txBody>
          <a:bodyPr vert="horz" wrap="square" lIns="0" tIns="0" rIns="0" bIns="0" rtlCol="0">
            <a:spAutoFit/>
          </a:bodyPr>
          <a:lstStyle/>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1714"/>
              </a:spcBef>
            </a:pPr>
            <a:endParaRPr sz="1800">
              <a:latin typeface="Times New Roman"/>
              <a:cs typeface="Times New Roman"/>
            </a:endParaRPr>
          </a:p>
          <a:p>
            <a:pPr marL="153035">
              <a:lnSpc>
                <a:spcPct val="100000"/>
              </a:lnSpc>
            </a:pPr>
            <a:r>
              <a:rPr sz="1800" spc="-10" dirty="0">
                <a:solidFill>
                  <a:srgbClr val="FFFFFF"/>
                </a:solidFill>
                <a:latin typeface="Calibri"/>
                <a:cs typeface="Calibri"/>
              </a:rPr>
              <a:t>Controllers</a:t>
            </a:r>
            <a:endParaRPr sz="1800">
              <a:latin typeface="Calibri"/>
              <a:cs typeface="Calibri"/>
            </a:endParaRPr>
          </a:p>
        </p:txBody>
      </p:sp>
      <p:sp>
        <p:nvSpPr>
          <p:cNvPr id="8" name="object 8"/>
          <p:cNvSpPr txBox="1"/>
          <p:nvPr/>
        </p:nvSpPr>
        <p:spPr>
          <a:xfrm>
            <a:off x="4142866" y="1831911"/>
            <a:ext cx="1322705" cy="2316480"/>
          </a:xfrm>
          <a:prstGeom prst="rect">
            <a:avLst/>
          </a:prstGeom>
          <a:solidFill>
            <a:srgbClr val="8063A1"/>
          </a:solidFill>
        </p:spPr>
        <p:txBody>
          <a:bodyPr vert="horz" wrap="square" lIns="0" tIns="0" rIns="0" bIns="0" rtlCol="0">
            <a:spAutoFit/>
          </a:bodyPr>
          <a:lstStyle/>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1714"/>
              </a:spcBef>
            </a:pPr>
            <a:endParaRPr sz="1800">
              <a:latin typeface="Times New Roman"/>
              <a:cs typeface="Times New Roman"/>
            </a:endParaRPr>
          </a:p>
          <a:p>
            <a:pPr marL="282575">
              <a:lnSpc>
                <a:spcPct val="100000"/>
              </a:lnSpc>
            </a:pPr>
            <a:r>
              <a:rPr sz="1800" spc="-10" dirty="0">
                <a:solidFill>
                  <a:srgbClr val="FFFFFF"/>
                </a:solidFill>
                <a:latin typeface="Calibri"/>
                <a:cs typeface="Calibri"/>
              </a:rPr>
              <a:t>Services</a:t>
            </a:r>
            <a:endParaRPr sz="1800">
              <a:latin typeface="Calibri"/>
              <a:cs typeface="Calibri"/>
            </a:endParaRPr>
          </a:p>
        </p:txBody>
      </p:sp>
      <p:sp>
        <p:nvSpPr>
          <p:cNvPr id="9" name="object 9"/>
          <p:cNvSpPr txBox="1"/>
          <p:nvPr/>
        </p:nvSpPr>
        <p:spPr>
          <a:xfrm>
            <a:off x="5943727" y="1821827"/>
            <a:ext cx="1322705" cy="2316480"/>
          </a:xfrm>
          <a:prstGeom prst="rect">
            <a:avLst/>
          </a:prstGeom>
          <a:solidFill>
            <a:srgbClr val="C0504D"/>
          </a:solidFill>
        </p:spPr>
        <p:txBody>
          <a:bodyPr vert="horz" wrap="square" lIns="0" tIns="0" rIns="0" bIns="0" rtlCol="0">
            <a:spAutoFit/>
          </a:bodyPr>
          <a:lstStyle/>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1714"/>
              </a:spcBef>
            </a:pPr>
            <a:endParaRPr sz="1800">
              <a:latin typeface="Times New Roman"/>
              <a:cs typeface="Times New Roman"/>
            </a:endParaRPr>
          </a:p>
          <a:p>
            <a:pPr marL="87630">
              <a:lnSpc>
                <a:spcPct val="100000"/>
              </a:lnSpc>
            </a:pPr>
            <a:r>
              <a:rPr sz="1800" spc="-10" dirty="0">
                <a:solidFill>
                  <a:srgbClr val="FFFFFF"/>
                </a:solidFill>
                <a:latin typeface="Calibri"/>
                <a:cs typeface="Calibri"/>
              </a:rPr>
              <a:t>Repositories</a:t>
            </a:r>
            <a:endParaRPr sz="1800">
              <a:latin typeface="Calibri"/>
              <a:cs typeface="Calibri"/>
            </a:endParaRPr>
          </a:p>
        </p:txBody>
      </p:sp>
      <p:grpSp>
        <p:nvGrpSpPr>
          <p:cNvPr id="10" name="object 10"/>
          <p:cNvGrpSpPr/>
          <p:nvPr/>
        </p:nvGrpSpPr>
        <p:grpSpPr>
          <a:xfrm>
            <a:off x="1131824" y="320547"/>
            <a:ext cx="6663690" cy="2942590"/>
            <a:chOff x="1131824" y="320547"/>
            <a:chExt cx="6663690" cy="2942590"/>
          </a:xfrm>
        </p:grpSpPr>
        <p:sp>
          <p:nvSpPr>
            <p:cNvPr id="11" name="object 11"/>
            <p:cNvSpPr/>
            <p:nvPr/>
          </p:nvSpPr>
          <p:spPr>
            <a:xfrm>
              <a:off x="3664331" y="2885440"/>
              <a:ext cx="464820" cy="199390"/>
            </a:xfrm>
            <a:custGeom>
              <a:avLst/>
              <a:gdLst/>
              <a:ahLst/>
              <a:cxnLst/>
              <a:rect l="l" t="t" r="r" b="b"/>
              <a:pathLst>
                <a:path w="464820" h="199389">
                  <a:moveTo>
                    <a:pt x="364617" y="0"/>
                  </a:moveTo>
                  <a:lnTo>
                    <a:pt x="364617" y="49784"/>
                  </a:lnTo>
                  <a:lnTo>
                    <a:pt x="99695" y="49784"/>
                  </a:lnTo>
                  <a:lnTo>
                    <a:pt x="99695" y="0"/>
                  </a:lnTo>
                  <a:lnTo>
                    <a:pt x="0" y="99695"/>
                  </a:lnTo>
                  <a:lnTo>
                    <a:pt x="99695" y="199390"/>
                  </a:lnTo>
                  <a:lnTo>
                    <a:pt x="99695" y="149606"/>
                  </a:lnTo>
                  <a:lnTo>
                    <a:pt x="364617" y="149606"/>
                  </a:lnTo>
                  <a:lnTo>
                    <a:pt x="364617" y="199390"/>
                  </a:lnTo>
                  <a:lnTo>
                    <a:pt x="464439" y="99695"/>
                  </a:lnTo>
                  <a:lnTo>
                    <a:pt x="364617" y="0"/>
                  </a:lnTo>
                  <a:close/>
                </a:path>
              </a:pathLst>
            </a:custGeom>
            <a:solidFill>
              <a:srgbClr val="4F81BC"/>
            </a:solidFill>
          </p:spPr>
          <p:txBody>
            <a:bodyPr wrap="square" lIns="0" tIns="0" rIns="0" bIns="0" rtlCol="0"/>
            <a:lstStyle/>
            <a:p>
              <a:endParaRPr/>
            </a:p>
          </p:txBody>
        </p:sp>
        <p:sp>
          <p:nvSpPr>
            <p:cNvPr id="12" name="object 12"/>
            <p:cNvSpPr/>
            <p:nvPr/>
          </p:nvSpPr>
          <p:spPr>
            <a:xfrm>
              <a:off x="3664331" y="2885440"/>
              <a:ext cx="464820" cy="199390"/>
            </a:xfrm>
            <a:custGeom>
              <a:avLst/>
              <a:gdLst/>
              <a:ahLst/>
              <a:cxnLst/>
              <a:rect l="l" t="t" r="r" b="b"/>
              <a:pathLst>
                <a:path w="464820" h="199389">
                  <a:moveTo>
                    <a:pt x="0" y="99695"/>
                  </a:moveTo>
                  <a:lnTo>
                    <a:pt x="99695" y="0"/>
                  </a:lnTo>
                  <a:lnTo>
                    <a:pt x="99695" y="49784"/>
                  </a:lnTo>
                  <a:lnTo>
                    <a:pt x="364617" y="49784"/>
                  </a:lnTo>
                  <a:lnTo>
                    <a:pt x="364617" y="0"/>
                  </a:lnTo>
                  <a:lnTo>
                    <a:pt x="464439" y="99695"/>
                  </a:lnTo>
                  <a:lnTo>
                    <a:pt x="364617" y="199390"/>
                  </a:lnTo>
                  <a:lnTo>
                    <a:pt x="364617" y="149606"/>
                  </a:lnTo>
                  <a:lnTo>
                    <a:pt x="99695" y="149606"/>
                  </a:lnTo>
                  <a:lnTo>
                    <a:pt x="99695" y="199390"/>
                  </a:lnTo>
                  <a:lnTo>
                    <a:pt x="0" y="99695"/>
                  </a:lnTo>
                  <a:close/>
                </a:path>
              </a:pathLst>
            </a:custGeom>
            <a:ln w="25400">
              <a:solidFill>
                <a:srgbClr val="385D89"/>
              </a:solidFill>
            </a:ln>
          </p:spPr>
          <p:txBody>
            <a:bodyPr wrap="square" lIns="0" tIns="0" rIns="0" bIns="0" rtlCol="0"/>
            <a:lstStyle/>
            <a:p>
              <a:endParaRPr/>
            </a:p>
          </p:txBody>
        </p:sp>
        <p:sp>
          <p:nvSpPr>
            <p:cNvPr id="13" name="object 13"/>
            <p:cNvSpPr/>
            <p:nvPr/>
          </p:nvSpPr>
          <p:spPr>
            <a:xfrm>
              <a:off x="5491099" y="2800730"/>
              <a:ext cx="464820" cy="200025"/>
            </a:xfrm>
            <a:custGeom>
              <a:avLst/>
              <a:gdLst/>
              <a:ahLst/>
              <a:cxnLst/>
              <a:rect l="l" t="t" r="r" b="b"/>
              <a:pathLst>
                <a:path w="464820" h="200025">
                  <a:moveTo>
                    <a:pt x="364616" y="0"/>
                  </a:moveTo>
                  <a:lnTo>
                    <a:pt x="364616" y="49911"/>
                  </a:lnTo>
                  <a:lnTo>
                    <a:pt x="99695" y="49911"/>
                  </a:lnTo>
                  <a:lnTo>
                    <a:pt x="99695" y="0"/>
                  </a:lnTo>
                  <a:lnTo>
                    <a:pt x="0" y="99694"/>
                  </a:lnTo>
                  <a:lnTo>
                    <a:pt x="99695" y="199517"/>
                  </a:lnTo>
                  <a:lnTo>
                    <a:pt x="99695" y="149606"/>
                  </a:lnTo>
                  <a:lnTo>
                    <a:pt x="364616" y="149606"/>
                  </a:lnTo>
                  <a:lnTo>
                    <a:pt x="364616" y="199517"/>
                  </a:lnTo>
                  <a:lnTo>
                    <a:pt x="464438" y="99694"/>
                  </a:lnTo>
                  <a:lnTo>
                    <a:pt x="364616" y="0"/>
                  </a:lnTo>
                  <a:close/>
                </a:path>
              </a:pathLst>
            </a:custGeom>
            <a:solidFill>
              <a:srgbClr val="4F81BC"/>
            </a:solidFill>
          </p:spPr>
          <p:txBody>
            <a:bodyPr wrap="square" lIns="0" tIns="0" rIns="0" bIns="0" rtlCol="0"/>
            <a:lstStyle/>
            <a:p>
              <a:endParaRPr/>
            </a:p>
          </p:txBody>
        </p:sp>
        <p:sp>
          <p:nvSpPr>
            <p:cNvPr id="14" name="object 14"/>
            <p:cNvSpPr/>
            <p:nvPr/>
          </p:nvSpPr>
          <p:spPr>
            <a:xfrm>
              <a:off x="5491099" y="2800730"/>
              <a:ext cx="464820" cy="200025"/>
            </a:xfrm>
            <a:custGeom>
              <a:avLst/>
              <a:gdLst/>
              <a:ahLst/>
              <a:cxnLst/>
              <a:rect l="l" t="t" r="r" b="b"/>
              <a:pathLst>
                <a:path w="464820" h="200025">
                  <a:moveTo>
                    <a:pt x="0" y="99694"/>
                  </a:moveTo>
                  <a:lnTo>
                    <a:pt x="99695" y="0"/>
                  </a:lnTo>
                  <a:lnTo>
                    <a:pt x="99695" y="49911"/>
                  </a:lnTo>
                  <a:lnTo>
                    <a:pt x="364616" y="49911"/>
                  </a:lnTo>
                  <a:lnTo>
                    <a:pt x="364616" y="0"/>
                  </a:lnTo>
                  <a:lnTo>
                    <a:pt x="464438" y="99694"/>
                  </a:lnTo>
                  <a:lnTo>
                    <a:pt x="364616" y="199517"/>
                  </a:lnTo>
                  <a:lnTo>
                    <a:pt x="364616" y="149606"/>
                  </a:lnTo>
                  <a:lnTo>
                    <a:pt x="99695" y="149606"/>
                  </a:lnTo>
                  <a:lnTo>
                    <a:pt x="99695" y="199517"/>
                  </a:lnTo>
                  <a:lnTo>
                    <a:pt x="0" y="99694"/>
                  </a:lnTo>
                  <a:close/>
                </a:path>
              </a:pathLst>
            </a:custGeom>
            <a:ln w="25400">
              <a:solidFill>
                <a:srgbClr val="385D89"/>
              </a:solidFill>
            </a:ln>
          </p:spPr>
          <p:txBody>
            <a:bodyPr wrap="square" lIns="0" tIns="0" rIns="0" bIns="0" rtlCol="0"/>
            <a:lstStyle/>
            <a:p>
              <a:endParaRPr/>
            </a:p>
          </p:txBody>
        </p:sp>
        <p:sp>
          <p:nvSpPr>
            <p:cNvPr id="15" name="object 15"/>
            <p:cNvSpPr/>
            <p:nvPr/>
          </p:nvSpPr>
          <p:spPr>
            <a:xfrm>
              <a:off x="7317866" y="2821050"/>
              <a:ext cx="464820" cy="200025"/>
            </a:xfrm>
            <a:custGeom>
              <a:avLst/>
              <a:gdLst/>
              <a:ahLst/>
              <a:cxnLst/>
              <a:rect l="l" t="t" r="r" b="b"/>
              <a:pathLst>
                <a:path w="464820" h="200025">
                  <a:moveTo>
                    <a:pt x="364743" y="0"/>
                  </a:moveTo>
                  <a:lnTo>
                    <a:pt x="364743" y="49911"/>
                  </a:lnTo>
                  <a:lnTo>
                    <a:pt x="99694" y="49911"/>
                  </a:lnTo>
                  <a:lnTo>
                    <a:pt x="99694" y="0"/>
                  </a:lnTo>
                  <a:lnTo>
                    <a:pt x="0" y="99694"/>
                  </a:lnTo>
                  <a:lnTo>
                    <a:pt x="99694" y="199517"/>
                  </a:lnTo>
                  <a:lnTo>
                    <a:pt x="99694" y="149606"/>
                  </a:lnTo>
                  <a:lnTo>
                    <a:pt x="364743" y="149606"/>
                  </a:lnTo>
                  <a:lnTo>
                    <a:pt x="364743" y="199517"/>
                  </a:lnTo>
                  <a:lnTo>
                    <a:pt x="464438" y="99694"/>
                  </a:lnTo>
                  <a:lnTo>
                    <a:pt x="364743" y="0"/>
                  </a:lnTo>
                  <a:close/>
                </a:path>
              </a:pathLst>
            </a:custGeom>
            <a:solidFill>
              <a:srgbClr val="4F81BC"/>
            </a:solidFill>
          </p:spPr>
          <p:txBody>
            <a:bodyPr wrap="square" lIns="0" tIns="0" rIns="0" bIns="0" rtlCol="0"/>
            <a:lstStyle/>
            <a:p>
              <a:endParaRPr/>
            </a:p>
          </p:txBody>
        </p:sp>
        <p:sp>
          <p:nvSpPr>
            <p:cNvPr id="16" name="object 16"/>
            <p:cNvSpPr/>
            <p:nvPr/>
          </p:nvSpPr>
          <p:spPr>
            <a:xfrm>
              <a:off x="7317866" y="2821050"/>
              <a:ext cx="464820" cy="200025"/>
            </a:xfrm>
            <a:custGeom>
              <a:avLst/>
              <a:gdLst/>
              <a:ahLst/>
              <a:cxnLst/>
              <a:rect l="l" t="t" r="r" b="b"/>
              <a:pathLst>
                <a:path w="464820" h="200025">
                  <a:moveTo>
                    <a:pt x="0" y="99694"/>
                  </a:moveTo>
                  <a:lnTo>
                    <a:pt x="99694" y="0"/>
                  </a:lnTo>
                  <a:lnTo>
                    <a:pt x="99694" y="49911"/>
                  </a:lnTo>
                  <a:lnTo>
                    <a:pt x="364743" y="49911"/>
                  </a:lnTo>
                  <a:lnTo>
                    <a:pt x="364743" y="0"/>
                  </a:lnTo>
                  <a:lnTo>
                    <a:pt x="464438" y="99694"/>
                  </a:lnTo>
                  <a:lnTo>
                    <a:pt x="364743" y="199517"/>
                  </a:lnTo>
                  <a:lnTo>
                    <a:pt x="364743" y="149606"/>
                  </a:lnTo>
                  <a:lnTo>
                    <a:pt x="99694" y="149606"/>
                  </a:lnTo>
                  <a:lnTo>
                    <a:pt x="99694" y="199517"/>
                  </a:lnTo>
                  <a:lnTo>
                    <a:pt x="0" y="99694"/>
                  </a:lnTo>
                  <a:close/>
                </a:path>
              </a:pathLst>
            </a:custGeom>
            <a:ln w="25400">
              <a:solidFill>
                <a:srgbClr val="385D89"/>
              </a:solidFill>
            </a:ln>
          </p:spPr>
          <p:txBody>
            <a:bodyPr wrap="square" lIns="0" tIns="0" rIns="0" bIns="0" rtlCol="0"/>
            <a:lstStyle/>
            <a:p>
              <a:endParaRPr/>
            </a:p>
          </p:txBody>
        </p:sp>
        <p:sp>
          <p:nvSpPr>
            <p:cNvPr id="17" name="object 17"/>
            <p:cNvSpPr/>
            <p:nvPr/>
          </p:nvSpPr>
          <p:spPr>
            <a:xfrm>
              <a:off x="1131824" y="2581401"/>
              <a:ext cx="1210310" cy="681355"/>
            </a:xfrm>
            <a:custGeom>
              <a:avLst/>
              <a:gdLst/>
              <a:ahLst/>
              <a:cxnLst/>
              <a:rect l="l" t="t" r="r" b="b"/>
              <a:pathLst>
                <a:path w="1210310" h="681354">
                  <a:moveTo>
                    <a:pt x="1184656" y="668528"/>
                  </a:moveTo>
                  <a:lnTo>
                    <a:pt x="76428" y="609650"/>
                  </a:lnTo>
                  <a:lnTo>
                    <a:pt x="76466" y="608965"/>
                  </a:lnTo>
                  <a:lnTo>
                    <a:pt x="78117" y="577977"/>
                  </a:lnTo>
                  <a:lnTo>
                    <a:pt x="12" y="611886"/>
                  </a:lnTo>
                  <a:lnTo>
                    <a:pt x="74079" y="654050"/>
                  </a:lnTo>
                  <a:lnTo>
                    <a:pt x="75755" y="622350"/>
                  </a:lnTo>
                  <a:lnTo>
                    <a:pt x="75933" y="618947"/>
                  </a:lnTo>
                  <a:lnTo>
                    <a:pt x="75793" y="621665"/>
                  </a:lnTo>
                  <a:lnTo>
                    <a:pt x="75755" y="622350"/>
                  </a:lnTo>
                  <a:lnTo>
                    <a:pt x="1184021" y="681228"/>
                  </a:lnTo>
                  <a:lnTo>
                    <a:pt x="1184656" y="668528"/>
                  </a:lnTo>
                  <a:close/>
                </a:path>
                <a:path w="1210310" h="681354">
                  <a:moveTo>
                    <a:pt x="1210310" y="38100"/>
                  </a:moveTo>
                  <a:lnTo>
                    <a:pt x="1197610" y="31750"/>
                  </a:lnTo>
                  <a:lnTo>
                    <a:pt x="1134110" y="0"/>
                  </a:lnTo>
                  <a:lnTo>
                    <a:pt x="1134110" y="31750"/>
                  </a:lnTo>
                  <a:lnTo>
                    <a:pt x="0" y="31750"/>
                  </a:lnTo>
                  <a:lnTo>
                    <a:pt x="0" y="44450"/>
                  </a:lnTo>
                  <a:lnTo>
                    <a:pt x="1134110" y="44450"/>
                  </a:lnTo>
                  <a:lnTo>
                    <a:pt x="1134110" y="76200"/>
                  </a:lnTo>
                  <a:lnTo>
                    <a:pt x="1197610" y="44450"/>
                  </a:lnTo>
                  <a:lnTo>
                    <a:pt x="1210310" y="38100"/>
                  </a:lnTo>
                  <a:close/>
                </a:path>
              </a:pathLst>
            </a:custGeom>
            <a:solidFill>
              <a:srgbClr val="BD4A47"/>
            </a:solidFill>
          </p:spPr>
          <p:txBody>
            <a:bodyPr wrap="square" lIns="0" tIns="0" rIns="0" bIns="0" rtlCol="0"/>
            <a:lstStyle/>
            <a:p>
              <a:endParaRPr/>
            </a:p>
          </p:txBody>
        </p:sp>
        <p:sp>
          <p:nvSpPr>
            <p:cNvPr id="18" name="object 18"/>
            <p:cNvSpPr/>
            <p:nvPr/>
          </p:nvSpPr>
          <p:spPr>
            <a:xfrm>
              <a:off x="1903476" y="333247"/>
              <a:ext cx="1734820" cy="1233805"/>
            </a:xfrm>
            <a:custGeom>
              <a:avLst/>
              <a:gdLst/>
              <a:ahLst/>
              <a:cxnLst/>
              <a:rect l="l" t="t" r="r" b="b"/>
              <a:pathLst>
                <a:path w="1734820" h="1233805">
                  <a:moveTo>
                    <a:pt x="1166368" y="0"/>
                  </a:moveTo>
                  <a:lnTo>
                    <a:pt x="867410" y="331215"/>
                  </a:lnTo>
                  <a:lnTo>
                    <a:pt x="670813" y="131063"/>
                  </a:lnTo>
                  <a:lnTo>
                    <a:pt x="587248" y="360934"/>
                  </a:lnTo>
                  <a:lnTo>
                    <a:pt x="29718" y="131063"/>
                  </a:lnTo>
                  <a:lnTo>
                    <a:pt x="371601" y="434975"/>
                  </a:lnTo>
                  <a:lnTo>
                    <a:pt x="0" y="491998"/>
                  </a:lnTo>
                  <a:lnTo>
                    <a:pt x="298957" y="672464"/>
                  </a:lnTo>
                  <a:lnTo>
                    <a:pt x="10794" y="832992"/>
                  </a:lnTo>
                  <a:lnTo>
                    <a:pt x="455168" y="795909"/>
                  </a:lnTo>
                  <a:lnTo>
                    <a:pt x="382397" y="1006093"/>
                  </a:lnTo>
                  <a:lnTo>
                    <a:pt x="619632" y="892428"/>
                  </a:lnTo>
                  <a:lnTo>
                    <a:pt x="681482" y="1233551"/>
                  </a:lnTo>
                  <a:lnTo>
                    <a:pt x="845947" y="852931"/>
                  </a:lnTo>
                  <a:lnTo>
                    <a:pt x="1064006" y="1127125"/>
                  </a:lnTo>
                  <a:lnTo>
                    <a:pt x="1125982" y="825626"/>
                  </a:lnTo>
                  <a:lnTo>
                    <a:pt x="1457325" y="1033399"/>
                  </a:lnTo>
                  <a:lnTo>
                    <a:pt x="1352296" y="739139"/>
                  </a:lnTo>
                  <a:lnTo>
                    <a:pt x="1734820" y="758951"/>
                  </a:lnTo>
                  <a:lnTo>
                    <a:pt x="1414145" y="598169"/>
                  </a:lnTo>
                  <a:lnTo>
                    <a:pt x="1694434" y="464692"/>
                  </a:lnTo>
                  <a:lnTo>
                    <a:pt x="1341501" y="417702"/>
                  </a:lnTo>
                  <a:lnTo>
                    <a:pt x="1476248" y="254507"/>
                  </a:lnTo>
                  <a:lnTo>
                    <a:pt x="1136904" y="304038"/>
                  </a:lnTo>
                  <a:lnTo>
                    <a:pt x="1166368" y="0"/>
                  </a:lnTo>
                  <a:close/>
                </a:path>
              </a:pathLst>
            </a:custGeom>
            <a:solidFill>
              <a:srgbClr val="4F81BC"/>
            </a:solidFill>
          </p:spPr>
          <p:txBody>
            <a:bodyPr wrap="square" lIns="0" tIns="0" rIns="0" bIns="0" rtlCol="0"/>
            <a:lstStyle/>
            <a:p>
              <a:endParaRPr/>
            </a:p>
          </p:txBody>
        </p:sp>
        <p:sp>
          <p:nvSpPr>
            <p:cNvPr id="19" name="object 19"/>
            <p:cNvSpPr/>
            <p:nvPr/>
          </p:nvSpPr>
          <p:spPr>
            <a:xfrm>
              <a:off x="1903476" y="333247"/>
              <a:ext cx="1734820" cy="1233805"/>
            </a:xfrm>
            <a:custGeom>
              <a:avLst/>
              <a:gdLst/>
              <a:ahLst/>
              <a:cxnLst/>
              <a:rect l="l" t="t" r="r" b="b"/>
              <a:pathLst>
                <a:path w="1734820" h="1233805">
                  <a:moveTo>
                    <a:pt x="867410" y="331215"/>
                  </a:moveTo>
                  <a:lnTo>
                    <a:pt x="1166368" y="0"/>
                  </a:lnTo>
                  <a:lnTo>
                    <a:pt x="1136904" y="304038"/>
                  </a:lnTo>
                  <a:lnTo>
                    <a:pt x="1476248" y="254507"/>
                  </a:lnTo>
                  <a:lnTo>
                    <a:pt x="1341501" y="417702"/>
                  </a:lnTo>
                  <a:lnTo>
                    <a:pt x="1694434" y="464692"/>
                  </a:lnTo>
                  <a:lnTo>
                    <a:pt x="1414145" y="598169"/>
                  </a:lnTo>
                  <a:lnTo>
                    <a:pt x="1734820" y="758951"/>
                  </a:lnTo>
                  <a:lnTo>
                    <a:pt x="1352296" y="739139"/>
                  </a:lnTo>
                  <a:lnTo>
                    <a:pt x="1457325" y="1033399"/>
                  </a:lnTo>
                  <a:lnTo>
                    <a:pt x="1125982" y="825626"/>
                  </a:lnTo>
                  <a:lnTo>
                    <a:pt x="1064006" y="1127125"/>
                  </a:lnTo>
                  <a:lnTo>
                    <a:pt x="845947" y="852931"/>
                  </a:lnTo>
                  <a:lnTo>
                    <a:pt x="681482" y="1233551"/>
                  </a:lnTo>
                  <a:lnTo>
                    <a:pt x="619632" y="892428"/>
                  </a:lnTo>
                  <a:lnTo>
                    <a:pt x="382397" y="1006093"/>
                  </a:lnTo>
                  <a:lnTo>
                    <a:pt x="455168" y="795909"/>
                  </a:lnTo>
                  <a:lnTo>
                    <a:pt x="10794" y="832992"/>
                  </a:lnTo>
                  <a:lnTo>
                    <a:pt x="298957" y="672464"/>
                  </a:lnTo>
                  <a:lnTo>
                    <a:pt x="0" y="491998"/>
                  </a:lnTo>
                  <a:lnTo>
                    <a:pt x="371601" y="434975"/>
                  </a:lnTo>
                  <a:lnTo>
                    <a:pt x="29718" y="131063"/>
                  </a:lnTo>
                  <a:lnTo>
                    <a:pt x="587248" y="360934"/>
                  </a:lnTo>
                  <a:lnTo>
                    <a:pt x="670813" y="131063"/>
                  </a:lnTo>
                  <a:lnTo>
                    <a:pt x="867410" y="331215"/>
                  </a:lnTo>
                  <a:close/>
                </a:path>
              </a:pathLst>
            </a:custGeom>
            <a:ln w="25400">
              <a:solidFill>
                <a:srgbClr val="385D89"/>
              </a:solidFill>
            </a:ln>
          </p:spPr>
          <p:txBody>
            <a:bodyPr wrap="square" lIns="0" tIns="0" rIns="0" bIns="0" rtlCol="0"/>
            <a:lstStyle/>
            <a:p>
              <a:endParaRPr/>
            </a:p>
          </p:txBody>
        </p:sp>
      </p:grpSp>
      <p:sp>
        <p:nvSpPr>
          <p:cNvPr id="20" name="object 20"/>
          <p:cNvSpPr txBox="1"/>
          <p:nvPr/>
        </p:nvSpPr>
        <p:spPr>
          <a:xfrm>
            <a:off x="2456814" y="609727"/>
            <a:ext cx="605790" cy="574040"/>
          </a:xfrm>
          <a:prstGeom prst="rect">
            <a:avLst/>
          </a:prstGeom>
        </p:spPr>
        <p:txBody>
          <a:bodyPr vert="horz" wrap="square" lIns="0" tIns="12700" rIns="0" bIns="0" rtlCol="0">
            <a:spAutoFit/>
          </a:bodyPr>
          <a:lstStyle/>
          <a:p>
            <a:pPr marL="1905" algn="ctr">
              <a:lnSpc>
                <a:spcPct val="100000"/>
              </a:lnSpc>
              <a:spcBef>
                <a:spcPts val="100"/>
              </a:spcBef>
            </a:pPr>
            <a:r>
              <a:rPr sz="1800" spc="-25" dirty="0">
                <a:solidFill>
                  <a:srgbClr val="FFFFFF"/>
                </a:solidFill>
                <a:latin typeface="Calibri"/>
                <a:cs typeface="Calibri"/>
              </a:rPr>
              <a:t>API</a:t>
            </a:r>
            <a:endParaRPr sz="1800">
              <a:latin typeface="Calibri"/>
              <a:cs typeface="Calibri"/>
            </a:endParaRPr>
          </a:p>
          <a:p>
            <a:pPr algn="ctr">
              <a:lnSpc>
                <a:spcPct val="100000"/>
              </a:lnSpc>
            </a:pPr>
            <a:r>
              <a:rPr sz="1800" spc="-10" dirty="0">
                <a:solidFill>
                  <a:srgbClr val="FFFFFF"/>
                </a:solidFill>
                <a:latin typeface="Calibri"/>
                <a:cs typeface="Calibri"/>
              </a:rPr>
              <a:t>Layers</a:t>
            </a:r>
            <a:endParaRPr sz="1800">
              <a:latin typeface="Calibri"/>
              <a:cs typeface="Calibri"/>
            </a:endParaRPr>
          </a:p>
        </p:txBody>
      </p:sp>
      <p:grpSp>
        <p:nvGrpSpPr>
          <p:cNvPr id="21" name="object 21"/>
          <p:cNvGrpSpPr/>
          <p:nvPr/>
        </p:nvGrpSpPr>
        <p:grpSpPr>
          <a:xfrm>
            <a:off x="3883786" y="320547"/>
            <a:ext cx="1852295" cy="1259205"/>
            <a:chOff x="3883786" y="320547"/>
            <a:chExt cx="1852295" cy="1259205"/>
          </a:xfrm>
        </p:grpSpPr>
        <p:sp>
          <p:nvSpPr>
            <p:cNvPr id="22" name="object 22"/>
            <p:cNvSpPr/>
            <p:nvPr/>
          </p:nvSpPr>
          <p:spPr>
            <a:xfrm>
              <a:off x="3896486" y="333247"/>
              <a:ext cx="1826895" cy="1233805"/>
            </a:xfrm>
            <a:custGeom>
              <a:avLst/>
              <a:gdLst/>
              <a:ahLst/>
              <a:cxnLst/>
              <a:rect l="l" t="t" r="r" b="b"/>
              <a:pathLst>
                <a:path w="1826895" h="1233805">
                  <a:moveTo>
                    <a:pt x="1228216" y="0"/>
                  </a:moveTo>
                  <a:lnTo>
                    <a:pt x="913384" y="331215"/>
                  </a:lnTo>
                  <a:lnTo>
                    <a:pt x="706374" y="131063"/>
                  </a:lnTo>
                  <a:lnTo>
                    <a:pt x="618363" y="360934"/>
                  </a:lnTo>
                  <a:lnTo>
                    <a:pt x="31368" y="131063"/>
                  </a:lnTo>
                  <a:lnTo>
                    <a:pt x="391287" y="434975"/>
                  </a:lnTo>
                  <a:lnTo>
                    <a:pt x="0" y="491998"/>
                  </a:lnTo>
                  <a:lnTo>
                    <a:pt x="314833" y="672464"/>
                  </a:lnTo>
                  <a:lnTo>
                    <a:pt x="11429" y="832992"/>
                  </a:lnTo>
                  <a:lnTo>
                    <a:pt x="479298" y="795909"/>
                  </a:lnTo>
                  <a:lnTo>
                    <a:pt x="402716" y="1006093"/>
                  </a:lnTo>
                  <a:lnTo>
                    <a:pt x="652526" y="892428"/>
                  </a:lnTo>
                  <a:lnTo>
                    <a:pt x="717676" y="1233551"/>
                  </a:lnTo>
                  <a:lnTo>
                    <a:pt x="890777" y="852931"/>
                  </a:lnTo>
                  <a:lnTo>
                    <a:pt x="1120393" y="1127125"/>
                  </a:lnTo>
                  <a:lnTo>
                    <a:pt x="1185799" y="825626"/>
                  </a:lnTo>
                  <a:lnTo>
                    <a:pt x="1534540" y="1033399"/>
                  </a:lnTo>
                  <a:lnTo>
                    <a:pt x="1423924" y="739139"/>
                  </a:lnTo>
                  <a:lnTo>
                    <a:pt x="1826767" y="758951"/>
                  </a:lnTo>
                  <a:lnTo>
                    <a:pt x="1489075" y="598169"/>
                  </a:lnTo>
                  <a:lnTo>
                    <a:pt x="1784223" y="464692"/>
                  </a:lnTo>
                  <a:lnTo>
                    <a:pt x="1412621" y="417702"/>
                  </a:lnTo>
                  <a:lnTo>
                    <a:pt x="1554479" y="254507"/>
                  </a:lnTo>
                  <a:lnTo>
                    <a:pt x="1197102" y="304038"/>
                  </a:lnTo>
                  <a:lnTo>
                    <a:pt x="1228216" y="0"/>
                  </a:lnTo>
                  <a:close/>
                </a:path>
              </a:pathLst>
            </a:custGeom>
            <a:solidFill>
              <a:srgbClr val="4F81BC"/>
            </a:solidFill>
          </p:spPr>
          <p:txBody>
            <a:bodyPr wrap="square" lIns="0" tIns="0" rIns="0" bIns="0" rtlCol="0"/>
            <a:lstStyle/>
            <a:p>
              <a:endParaRPr/>
            </a:p>
          </p:txBody>
        </p:sp>
        <p:sp>
          <p:nvSpPr>
            <p:cNvPr id="23" name="object 23"/>
            <p:cNvSpPr/>
            <p:nvPr/>
          </p:nvSpPr>
          <p:spPr>
            <a:xfrm>
              <a:off x="3896486" y="333247"/>
              <a:ext cx="1826895" cy="1233805"/>
            </a:xfrm>
            <a:custGeom>
              <a:avLst/>
              <a:gdLst/>
              <a:ahLst/>
              <a:cxnLst/>
              <a:rect l="l" t="t" r="r" b="b"/>
              <a:pathLst>
                <a:path w="1826895" h="1233805">
                  <a:moveTo>
                    <a:pt x="913384" y="331215"/>
                  </a:moveTo>
                  <a:lnTo>
                    <a:pt x="1228216" y="0"/>
                  </a:lnTo>
                  <a:lnTo>
                    <a:pt x="1197102" y="304038"/>
                  </a:lnTo>
                  <a:lnTo>
                    <a:pt x="1554479" y="254507"/>
                  </a:lnTo>
                  <a:lnTo>
                    <a:pt x="1412621" y="417702"/>
                  </a:lnTo>
                  <a:lnTo>
                    <a:pt x="1784223" y="464692"/>
                  </a:lnTo>
                  <a:lnTo>
                    <a:pt x="1489075" y="598169"/>
                  </a:lnTo>
                  <a:lnTo>
                    <a:pt x="1826767" y="758951"/>
                  </a:lnTo>
                  <a:lnTo>
                    <a:pt x="1423924" y="739139"/>
                  </a:lnTo>
                  <a:lnTo>
                    <a:pt x="1534540" y="1033399"/>
                  </a:lnTo>
                  <a:lnTo>
                    <a:pt x="1185799" y="825626"/>
                  </a:lnTo>
                  <a:lnTo>
                    <a:pt x="1120393" y="1127125"/>
                  </a:lnTo>
                  <a:lnTo>
                    <a:pt x="890777" y="852931"/>
                  </a:lnTo>
                  <a:lnTo>
                    <a:pt x="717676" y="1233551"/>
                  </a:lnTo>
                  <a:lnTo>
                    <a:pt x="652526" y="892428"/>
                  </a:lnTo>
                  <a:lnTo>
                    <a:pt x="402716" y="1006093"/>
                  </a:lnTo>
                  <a:lnTo>
                    <a:pt x="479298" y="795909"/>
                  </a:lnTo>
                  <a:lnTo>
                    <a:pt x="11429" y="832992"/>
                  </a:lnTo>
                  <a:lnTo>
                    <a:pt x="314833" y="672464"/>
                  </a:lnTo>
                  <a:lnTo>
                    <a:pt x="0" y="491998"/>
                  </a:lnTo>
                  <a:lnTo>
                    <a:pt x="391287" y="434975"/>
                  </a:lnTo>
                  <a:lnTo>
                    <a:pt x="31368" y="131063"/>
                  </a:lnTo>
                  <a:lnTo>
                    <a:pt x="618363" y="360934"/>
                  </a:lnTo>
                  <a:lnTo>
                    <a:pt x="706374" y="131063"/>
                  </a:lnTo>
                  <a:lnTo>
                    <a:pt x="913384" y="331215"/>
                  </a:lnTo>
                  <a:close/>
                </a:path>
              </a:pathLst>
            </a:custGeom>
            <a:ln w="25400">
              <a:solidFill>
                <a:srgbClr val="385D89"/>
              </a:solidFill>
            </a:ln>
          </p:spPr>
          <p:txBody>
            <a:bodyPr wrap="square" lIns="0" tIns="0" rIns="0" bIns="0" rtlCol="0"/>
            <a:lstStyle/>
            <a:p>
              <a:endParaRPr/>
            </a:p>
          </p:txBody>
        </p:sp>
      </p:grpSp>
      <p:sp>
        <p:nvSpPr>
          <p:cNvPr id="24" name="object 24"/>
          <p:cNvSpPr txBox="1"/>
          <p:nvPr/>
        </p:nvSpPr>
        <p:spPr>
          <a:xfrm>
            <a:off x="4384928" y="609727"/>
            <a:ext cx="826135" cy="574040"/>
          </a:xfrm>
          <a:prstGeom prst="rect">
            <a:avLst/>
          </a:prstGeom>
        </p:spPr>
        <p:txBody>
          <a:bodyPr vert="horz" wrap="square" lIns="0" tIns="12700" rIns="0" bIns="0" rtlCol="0">
            <a:spAutoFit/>
          </a:bodyPr>
          <a:lstStyle/>
          <a:p>
            <a:pPr marL="177165" marR="5080" indent="-165100">
              <a:lnSpc>
                <a:spcPct val="100000"/>
              </a:lnSpc>
              <a:spcBef>
                <a:spcPts val="100"/>
              </a:spcBef>
            </a:pPr>
            <a:r>
              <a:rPr sz="1800" spc="-10" dirty="0">
                <a:solidFill>
                  <a:srgbClr val="FFFFFF"/>
                </a:solidFill>
                <a:latin typeface="Calibri"/>
                <a:cs typeface="Calibri"/>
              </a:rPr>
              <a:t>Business Logic</a:t>
            </a:r>
            <a:endParaRPr sz="1800">
              <a:latin typeface="Calibri"/>
              <a:cs typeface="Calibri"/>
            </a:endParaRPr>
          </a:p>
        </p:txBody>
      </p:sp>
      <p:grpSp>
        <p:nvGrpSpPr>
          <p:cNvPr id="25" name="object 25"/>
          <p:cNvGrpSpPr/>
          <p:nvPr/>
        </p:nvGrpSpPr>
        <p:grpSpPr>
          <a:xfrm>
            <a:off x="6053454" y="320547"/>
            <a:ext cx="1741805" cy="1259205"/>
            <a:chOff x="6053454" y="320547"/>
            <a:chExt cx="1741805" cy="1259205"/>
          </a:xfrm>
        </p:grpSpPr>
        <p:sp>
          <p:nvSpPr>
            <p:cNvPr id="26" name="object 26"/>
            <p:cNvSpPr/>
            <p:nvPr/>
          </p:nvSpPr>
          <p:spPr>
            <a:xfrm>
              <a:off x="6066154" y="333247"/>
              <a:ext cx="1716405" cy="1233805"/>
            </a:xfrm>
            <a:custGeom>
              <a:avLst/>
              <a:gdLst/>
              <a:ahLst/>
              <a:cxnLst/>
              <a:rect l="l" t="t" r="r" b="b"/>
              <a:pathLst>
                <a:path w="1716404" h="1233805">
                  <a:moveTo>
                    <a:pt x="1153795" y="0"/>
                  </a:moveTo>
                  <a:lnTo>
                    <a:pt x="858012" y="331215"/>
                  </a:lnTo>
                  <a:lnTo>
                    <a:pt x="663575" y="131063"/>
                  </a:lnTo>
                  <a:lnTo>
                    <a:pt x="580898" y="360934"/>
                  </a:lnTo>
                  <a:lnTo>
                    <a:pt x="29464" y="131063"/>
                  </a:lnTo>
                  <a:lnTo>
                    <a:pt x="367665" y="434975"/>
                  </a:lnTo>
                  <a:lnTo>
                    <a:pt x="0" y="491998"/>
                  </a:lnTo>
                  <a:lnTo>
                    <a:pt x="295783" y="672464"/>
                  </a:lnTo>
                  <a:lnTo>
                    <a:pt x="10795" y="832992"/>
                  </a:lnTo>
                  <a:lnTo>
                    <a:pt x="450215" y="795909"/>
                  </a:lnTo>
                  <a:lnTo>
                    <a:pt x="378333" y="1006093"/>
                  </a:lnTo>
                  <a:lnTo>
                    <a:pt x="613028" y="892428"/>
                  </a:lnTo>
                  <a:lnTo>
                    <a:pt x="674116" y="1233551"/>
                  </a:lnTo>
                  <a:lnTo>
                    <a:pt x="836802" y="852931"/>
                  </a:lnTo>
                  <a:lnTo>
                    <a:pt x="1052449" y="1127125"/>
                  </a:lnTo>
                  <a:lnTo>
                    <a:pt x="1113917" y="825626"/>
                  </a:lnTo>
                  <a:lnTo>
                    <a:pt x="1441577" y="1033399"/>
                  </a:lnTo>
                  <a:lnTo>
                    <a:pt x="1337691" y="739139"/>
                  </a:lnTo>
                  <a:lnTo>
                    <a:pt x="1716151" y="758951"/>
                  </a:lnTo>
                  <a:lnTo>
                    <a:pt x="1398904" y="598169"/>
                  </a:lnTo>
                  <a:lnTo>
                    <a:pt x="1676146" y="464692"/>
                  </a:lnTo>
                  <a:lnTo>
                    <a:pt x="1327023" y="417702"/>
                  </a:lnTo>
                  <a:lnTo>
                    <a:pt x="1460246" y="254507"/>
                  </a:lnTo>
                  <a:lnTo>
                    <a:pt x="1124585" y="304038"/>
                  </a:lnTo>
                  <a:lnTo>
                    <a:pt x="1153795" y="0"/>
                  </a:lnTo>
                  <a:close/>
                </a:path>
              </a:pathLst>
            </a:custGeom>
            <a:solidFill>
              <a:srgbClr val="4F81BC"/>
            </a:solidFill>
          </p:spPr>
          <p:txBody>
            <a:bodyPr wrap="square" lIns="0" tIns="0" rIns="0" bIns="0" rtlCol="0"/>
            <a:lstStyle/>
            <a:p>
              <a:endParaRPr/>
            </a:p>
          </p:txBody>
        </p:sp>
        <p:sp>
          <p:nvSpPr>
            <p:cNvPr id="27" name="object 27"/>
            <p:cNvSpPr/>
            <p:nvPr/>
          </p:nvSpPr>
          <p:spPr>
            <a:xfrm>
              <a:off x="6066154" y="333247"/>
              <a:ext cx="1716405" cy="1233805"/>
            </a:xfrm>
            <a:custGeom>
              <a:avLst/>
              <a:gdLst/>
              <a:ahLst/>
              <a:cxnLst/>
              <a:rect l="l" t="t" r="r" b="b"/>
              <a:pathLst>
                <a:path w="1716404" h="1233805">
                  <a:moveTo>
                    <a:pt x="858012" y="331215"/>
                  </a:moveTo>
                  <a:lnTo>
                    <a:pt x="1153795" y="0"/>
                  </a:lnTo>
                  <a:lnTo>
                    <a:pt x="1124585" y="304038"/>
                  </a:lnTo>
                  <a:lnTo>
                    <a:pt x="1460246" y="254507"/>
                  </a:lnTo>
                  <a:lnTo>
                    <a:pt x="1327023" y="417702"/>
                  </a:lnTo>
                  <a:lnTo>
                    <a:pt x="1676146" y="464692"/>
                  </a:lnTo>
                  <a:lnTo>
                    <a:pt x="1398904" y="598169"/>
                  </a:lnTo>
                  <a:lnTo>
                    <a:pt x="1716151" y="758951"/>
                  </a:lnTo>
                  <a:lnTo>
                    <a:pt x="1337691" y="739139"/>
                  </a:lnTo>
                  <a:lnTo>
                    <a:pt x="1441577" y="1033399"/>
                  </a:lnTo>
                  <a:lnTo>
                    <a:pt x="1113917" y="825626"/>
                  </a:lnTo>
                  <a:lnTo>
                    <a:pt x="1052449" y="1127125"/>
                  </a:lnTo>
                  <a:lnTo>
                    <a:pt x="836802" y="852931"/>
                  </a:lnTo>
                  <a:lnTo>
                    <a:pt x="674116" y="1233551"/>
                  </a:lnTo>
                  <a:lnTo>
                    <a:pt x="613028" y="892428"/>
                  </a:lnTo>
                  <a:lnTo>
                    <a:pt x="378333" y="1006093"/>
                  </a:lnTo>
                  <a:lnTo>
                    <a:pt x="450215" y="795909"/>
                  </a:lnTo>
                  <a:lnTo>
                    <a:pt x="10795" y="832992"/>
                  </a:lnTo>
                  <a:lnTo>
                    <a:pt x="295783" y="672464"/>
                  </a:lnTo>
                  <a:lnTo>
                    <a:pt x="0" y="491998"/>
                  </a:lnTo>
                  <a:lnTo>
                    <a:pt x="367665" y="434975"/>
                  </a:lnTo>
                  <a:lnTo>
                    <a:pt x="29464" y="131063"/>
                  </a:lnTo>
                  <a:lnTo>
                    <a:pt x="580898" y="360934"/>
                  </a:lnTo>
                  <a:lnTo>
                    <a:pt x="663575" y="131063"/>
                  </a:lnTo>
                  <a:lnTo>
                    <a:pt x="858012" y="331215"/>
                  </a:lnTo>
                  <a:close/>
                </a:path>
              </a:pathLst>
            </a:custGeom>
            <a:ln w="25400">
              <a:solidFill>
                <a:srgbClr val="385D89"/>
              </a:solidFill>
            </a:ln>
          </p:spPr>
          <p:txBody>
            <a:bodyPr wrap="square" lIns="0" tIns="0" rIns="0" bIns="0" rtlCol="0"/>
            <a:lstStyle/>
            <a:p>
              <a:endParaRPr/>
            </a:p>
          </p:txBody>
        </p:sp>
      </p:grpSp>
      <p:sp>
        <p:nvSpPr>
          <p:cNvPr id="28" name="object 28"/>
          <p:cNvSpPr txBox="1">
            <a:spLocks noGrp="1"/>
          </p:cNvSpPr>
          <p:nvPr>
            <p:ph type="title"/>
          </p:nvPr>
        </p:nvSpPr>
        <p:spPr>
          <a:xfrm>
            <a:off x="6654545" y="609727"/>
            <a:ext cx="521334" cy="574040"/>
          </a:xfrm>
          <a:prstGeom prst="rect">
            <a:avLst/>
          </a:prstGeom>
        </p:spPr>
        <p:txBody>
          <a:bodyPr vert="horz" wrap="square" lIns="0" tIns="12700" rIns="0" bIns="0" rtlCol="0">
            <a:spAutoFit/>
          </a:bodyPr>
          <a:lstStyle/>
          <a:p>
            <a:pPr marL="12700" marR="5080" indent="62230">
              <a:lnSpc>
                <a:spcPct val="100000"/>
              </a:lnSpc>
              <a:spcBef>
                <a:spcPts val="100"/>
              </a:spcBef>
            </a:pPr>
            <a:r>
              <a:rPr sz="1800" b="0" spc="-25" dirty="0">
                <a:solidFill>
                  <a:srgbClr val="FFFFFF"/>
                </a:solidFill>
                <a:latin typeface="Calibri"/>
                <a:cs typeface="Calibri"/>
              </a:rPr>
              <a:t>Dao Layer</a:t>
            </a:r>
            <a:endParaRPr sz="1800">
              <a:latin typeface="Calibri"/>
              <a:cs typeface="Calibri"/>
            </a:endParaRPr>
          </a:p>
        </p:txBody>
      </p:sp>
      <p:sp>
        <p:nvSpPr>
          <p:cNvPr id="29" name="object 29"/>
          <p:cNvSpPr/>
          <p:nvPr/>
        </p:nvSpPr>
        <p:spPr>
          <a:xfrm>
            <a:off x="1903476" y="1566786"/>
            <a:ext cx="5741035" cy="2753360"/>
          </a:xfrm>
          <a:custGeom>
            <a:avLst/>
            <a:gdLst/>
            <a:ahLst/>
            <a:cxnLst/>
            <a:rect l="l" t="t" r="r" b="b"/>
            <a:pathLst>
              <a:path w="5741034" h="2753360">
                <a:moveTo>
                  <a:pt x="0" y="2753360"/>
                </a:moveTo>
                <a:lnTo>
                  <a:pt x="5740654" y="2753360"/>
                </a:lnTo>
                <a:lnTo>
                  <a:pt x="5740654" y="0"/>
                </a:lnTo>
                <a:lnTo>
                  <a:pt x="0" y="0"/>
                </a:lnTo>
                <a:lnTo>
                  <a:pt x="0" y="2753360"/>
                </a:lnTo>
                <a:close/>
              </a:path>
            </a:pathLst>
          </a:custGeom>
          <a:ln w="25400">
            <a:solidFill>
              <a:srgbClr val="385D89"/>
            </a:solidFill>
          </a:ln>
        </p:spPr>
        <p:txBody>
          <a:bodyPr wrap="square" lIns="0" tIns="0" rIns="0" bIns="0" rtlCol="0"/>
          <a:lstStyle/>
          <a:p>
            <a:endParaRPr/>
          </a:p>
        </p:txBody>
      </p:sp>
      <p:sp>
        <p:nvSpPr>
          <p:cNvPr id="30" name="object 30"/>
          <p:cNvSpPr txBox="1"/>
          <p:nvPr/>
        </p:nvSpPr>
        <p:spPr>
          <a:xfrm>
            <a:off x="4065778" y="4315459"/>
            <a:ext cx="152654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Spring Boot</a:t>
            </a:r>
            <a:r>
              <a:rPr sz="1800" spc="-15" dirty="0">
                <a:latin typeface="Calibri"/>
                <a:cs typeface="Calibri"/>
              </a:rPr>
              <a:t> </a:t>
            </a:r>
            <a:r>
              <a:rPr sz="1800" spc="-25" dirty="0">
                <a:latin typeface="Calibri"/>
                <a:cs typeface="Calibri"/>
              </a:rPr>
              <a:t>APP</a:t>
            </a:r>
            <a:endParaRPr sz="1800">
              <a:latin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5008" y="189707"/>
            <a:ext cx="8446414" cy="834202"/>
          </a:xfrm>
          <a:prstGeom prst="rect">
            <a:avLst/>
          </a:prstGeom>
        </p:spPr>
        <p:txBody>
          <a:bodyPr vert="horz" wrap="square" lIns="0" tIns="277494" rIns="0" bIns="0" rtlCol="0">
            <a:spAutoFit/>
          </a:bodyPr>
          <a:lstStyle/>
          <a:p>
            <a:pPr marL="2083435">
              <a:lnSpc>
                <a:spcPct val="100000"/>
              </a:lnSpc>
              <a:spcBef>
                <a:spcPts val="100"/>
              </a:spcBef>
            </a:pPr>
            <a:r>
              <a:rPr lang="en-US" sz="3600" dirty="0"/>
              <a:t>Identity &amp; Security Module</a:t>
            </a:r>
            <a:endParaRPr sz="3600" dirty="0"/>
          </a:p>
        </p:txBody>
      </p:sp>
      <p:sp>
        <p:nvSpPr>
          <p:cNvPr id="3" name="object 3"/>
          <p:cNvSpPr txBox="1"/>
          <p:nvPr/>
        </p:nvSpPr>
        <p:spPr>
          <a:xfrm>
            <a:off x="307340" y="1216913"/>
            <a:ext cx="8446414" cy="3098925"/>
          </a:xfrm>
          <a:prstGeom prst="rect">
            <a:avLst/>
          </a:prstGeom>
        </p:spPr>
        <p:txBody>
          <a:bodyPr vert="horz" wrap="square" lIns="0" tIns="13335" rIns="0" bIns="0" rtlCol="0">
            <a:spAutoFit/>
          </a:bodyPr>
          <a:lstStyle/>
          <a:p>
            <a:pPr marL="299085" marR="485140" indent="-287020" algn="just">
              <a:lnSpc>
                <a:spcPct val="100000"/>
              </a:lnSpc>
              <a:spcBef>
                <a:spcPts val="105"/>
              </a:spcBef>
              <a:buClr>
                <a:srgbClr val="FF0000"/>
              </a:buClr>
              <a:buFont typeface="Wingdings" panose="05000000000000000000" pitchFamily="2" charset="2"/>
              <a:buChar char="q"/>
              <a:tabLst>
                <a:tab pos="299085" algn="l"/>
              </a:tabLst>
            </a:pPr>
            <a:r>
              <a:rPr lang="en-US" dirty="0"/>
              <a:t>1. </a:t>
            </a:r>
            <a:r>
              <a:rPr lang="en-US" b="1" dirty="0"/>
              <a:t>Registration:</a:t>
            </a:r>
            <a:r>
              <a:rPr lang="en-US" dirty="0"/>
              <a:t> When a new user signs up, the system takes the plain-text password, uses the </a:t>
            </a:r>
            <a:r>
              <a:rPr lang="en-US" dirty="0" err="1"/>
              <a:t>BCrypt</a:t>
            </a:r>
            <a:r>
              <a:rPr lang="en-US" dirty="0"/>
              <a:t> hashing algorithm to encrypt it, and stores the user in the database with a specific role (e.g., ROLE_USER). </a:t>
            </a:r>
          </a:p>
          <a:p>
            <a:pPr marL="299085" marR="485140" indent="-287020" algn="just">
              <a:lnSpc>
                <a:spcPct val="100000"/>
              </a:lnSpc>
              <a:spcBef>
                <a:spcPts val="105"/>
              </a:spcBef>
              <a:buClr>
                <a:srgbClr val="FF0000"/>
              </a:buClr>
              <a:buFont typeface="Wingdings" panose="05000000000000000000" pitchFamily="2" charset="2"/>
              <a:buChar char="q"/>
              <a:tabLst>
                <a:tab pos="299085" algn="l"/>
              </a:tabLst>
            </a:pPr>
            <a:r>
              <a:rPr lang="en-US" dirty="0"/>
              <a:t>2. </a:t>
            </a:r>
            <a:r>
              <a:rPr lang="en-US" b="1" dirty="0"/>
              <a:t>Login &amp; Authentication:</a:t>
            </a:r>
            <a:r>
              <a:rPr lang="en-US" dirty="0"/>
              <a:t> When a user logs in, </a:t>
            </a:r>
            <a:r>
              <a:rPr lang="en-US" dirty="0" err="1"/>
              <a:t>theAuthenticationManager</a:t>
            </a:r>
            <a:r>
              <a:rPr lang="en-US" dirty="0"/>
              <a:t>  verifies the credentials</a:t>
            </a:r>
          </a:p>
          <a:p>
            <a:pPr marL="297815" marR="485140" indent="-285750" algn="just">
              <a:lnSpc>
                <a:spcPct val="100000"/>
              </a:lnSpc>
              <a:spcBef>
                <a:spcPts val="105"/>
              </a:spcBef>
              <a:buClr>
                <a:srgbClr val="FF0000"/>
              </a:buClr>
              <a:buFont typeface="Wingdings" panose="05000000000000000000" pitchFamily="2" charset="2"/>
              <a:buChar char="q"/>
              <a:tabLst>
                <a:tab pos="299085" algn="l"/>
              </a:tabLst>
            </a:pPr>
            <a:r>
              <a:rPr lang="en-US" dirty="0"/>
              <a:t>3.</a:t>
            </a:r>
            <a:r>
              <a:rPr lang="en-US" b="1" dirty="0"/>
              <a:t>Token Issuance:</a:t>
            </a:r>
            <a:r>
              <a:rPr lang="en-US" dirty="0"/>
              <a:t> If valid, the system generates a JWT (JSON Web Token).    </a:t>
            </a:r>
          </a:p>
          <a:p>
            <a:pPr marL="297815" marR="485140" indent="-285750" algn="just">
              <a:lnSpc>
                <a:spcPct val="100000"/>
              </a:lnSpc>
              <a:spcBef>
                <a:spcPts val="105"/>
              </a:spcBef>
              <a:buClr>
                <a:srgbClr val="FF0000"/>
              </a:buClr>
              <a:buFont typeface="Wingdings" panose="05000000000000000000" pitchFamily="2" charset="2"/>
              <a:buChar char="q"/>
              <a:tabLst>
                <a:tab pos="299085" algn="l"/>
              </a:tabLst>
            </a:pPr>
            <a:r>
              <a:rPr lang="en-US" dirty="0"/>
              <a:t> 4. </a:t>
            </a:r>
            <a:r>
              <a:rPr lang="en-US" b="1" dirty="0"/>
              <a:t>Authorization:</a:t>
            </a:r>
            <a:r>
              <a:rPr lang="en-US" dirty="0"/>
              <a:t> For every subsequent request, the user must send this token in the header. Spring Security intercepts the request, validates the token, and checks if the user has the required role (e.g.,@</a:t>
            </a:r>
            <a:r>
              <a:rPr lang="en-US" dirty="0" err="1"/>
              <a:t>PreAuthorize</a:t>
            </a:r>
            <a:r>
              <a:rPr lang="en-US" dirty="0"/>
              <a:t>("</a:t>
            </a:r>
            <a:r>
              <a:rPr lang="en-US" dirty="0" err="1"/>
              <a:t>hasRole</a:t>
            </a:r>
            <a:r>
              <a:rPr lang="en-US" dirty="0"/>
              <a:t>('ADMIN')")) to perform the action</a:t>
            </a:r>
            <a:endParaRPr sz="1800" dirty="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8792" y="-127254"/>
            <a:ext cx="8446414" cy="834202"/>
          </a:xfrm>
          <a:prstGeom prst="rect">
            <a:avLst/>
          </a:prstGeom>
        </p:spPr>
        <p:txBody>
          <a:bodyPr vert="horz" wrap="square" lIns="0" tIns="277494" rIns="0" bIns="0" rtlCol="0">
            <a:spAutoFit/>
          </a:bodyPr>
          <a:lstStyle/>
          <a:p>
            <a:pPr marL="1664335">
              <a:lnSpc>
                <a:spcPct val="100000"/>
              </a:lnSpc>
              <a:spcBef>
                <a:spcPts val="100"/>
              </a:spcBef>
            </a:pPr>
            <a:r>
              <a:rPr lang="en-IN" sz="3600" dirty="0"/>
              <a:t>Employee Core Module</a:t>
            </a:r>
            <a:endParaRPr sz="3600" dirty="0"/>
          </a:p>
        </p:txBody>
      </p:sp>
      <p:sp>
        <p:nvSpPr>
          <p:cNvPr id="3" name="object 3"/>
          <p:cNvSpPr txBox="1"/>
          <p:nvPr/>
        </p:nvSpPr>
        <p:spPr>
          <a:xfrm>
            <a:off x="189687" y="1149857"/>
            <a:ext cx="8388985" cy="3658053"/>
          </a:xfrm>
          <a:prstGeom prst="rect">
            <a:avLst/>
          </a:prstGeom>
        </p:spPr>
        <p:txBody>
          <a:bodyPr vert="horz" wrap="square" lIns="0" tIns="13335" rIns="0" bIns="0" rtlCol="0">
            <a:spAutoFit/>
          </a:bodyPr>
          <a:lstStyle/>
          <a:p>
            <a:pPr marL="285750" lvl="1" indent="-285750">
              <a:lnSpc>
                <a:spcPct val="150000"/>
              </a:lnSpc>
              <a:buFont typeface="Wingdings" panose="05000000000000000000" pitchFamily="2" charset="2"/>
              <a:buChar char="q"/>
            </a:pPr>
            <a:r>
              <a:rPr lang="en-US" b="1" dirty="0"/>
              <a:t>Controller Layer:</a:t>
            </a:r>
            <a:r>
              <a:rPr lang="en-US" dirty="0"/>
              <a:t> Receives the HTTP request (like POST /</a:t>
            </a:r>
            <a:r>
              <a:rPr lang="en-US" dirty="0" err="1"/>
              <a:t>api</a:t>
            </a:r>
            <a:r>
              <a:rPr lang="en-US" dirty="0"/>
              <a:t>/employees).</a:t>
            </a:r>
          </a:p>
          <a:p>
            <a:pPr marL="285750" lvl="1" indent="-285750">
              <a:lnSpc>
                <a:spcPct val="150000"/>
              </a:lnSpc>
              <a:buFont typeface="Wingdings" panose="05000000000000000000" pitchFamily="2" charset="2"/>
              <a:buChar char="q"/>
            </a:pPr>
            <a:r>
              <a:rPr lang="en-US" b="1" dirty="0"/>
              <a:t>Service Layer:</a:t>
            </a:r>
            <a:r>
              <a:rPr lang="en-US" dirty="0"/>
              <a:t> Contains the "business rules." For example, before adding an employee, it might check if the email already exists.</a:t>
            </a:r>
          </a:p>
          <a:p>
            <a:pPr marL="285750" lvl="1" indent="-285750">
              <a:lnSpc>
                <a:spcPct val="150000"/>
              </a:lnSpc>
              <a:buFont typeface="Wingdings" panose="05000000000000000000" pitchFamily="2" charset="2"/>
              <a:buChar char="q"/>
            </a:pPr>
            <a:r>
              <a:rPr lang="en-US" b="1" dirty="0"/>
              <a:t>Pagination &amp; Sorting:</a:t>
            </a:r>
            <a:r>
              <a:rPr lang="en-US" dirty="0"/>
              <a:t> Instead of fetching 10,000 employees at once, the </a:t>
            </a:r>
            <a:r>
              <a:rPr lang="en-US" dirty="0" err="1"/>
              <a:t>PagingAndSortingRepository</a:t>
            </a:r>
            <a:r>
              <a:rPr lang="en-US" dirty="0"/>
              <a:t> allows the client to request "Page 1 with 10 records." This keeps the application fast and reduces memory usage.</a:t>
            </a:r>
          </a:p>
          <a:p>
            <a:pPr marL="285750" lvl="1" indent="-285750">
              <a:lnSpc>
                <a:spcPct val="150000"/>
              </a:lnSpc>
              <a:buFont typeface="Wingdings" panose="05000000000000000000" pitchFamily="2" charset="2"/>
              <a:buChar char="q"/>
            </a:pPr>
            <a:r>
              <a:rPr lang="en-US" b="1" dirty="0"/>
              <a:t>Data Persistence:</a:t>
            </a:r>
            <a:r>
              <a:rPr lang="en-US" dirty="0"/>
              <a:t> Uses Spring Data JPA to save or retrieve the Employee entity from the MySQL database without writing manual SQL queries.</a:t>
            </a:r>
          </a:p>
          <a:p>
            <a:pPr marL="299085" marR="542290" indent="-287020">
              <a:lnSpc>
                <a:spcPct val="100000"/>
              </a:lnSpc>
              <a:spcBef>
                <a:spcPts val="105"/>
              </a:spcBef>
              <a:buClr>
                <a:srgbClr val="FF0000"/>
              </a:buClr>
              <a:buFont typeface="Wingdings"/>
              <a:buChar char=""/>
              <a:tabLst>
                <a:tab pos="299085" algn="l"/>
              </a:tabLst>
            </a:pPr>
            <a:endParaRPr sz="2000" dirty="0">
              <a:latin typeface="Arial MT"/>
              <a:cs typeface="Arial M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5143500"/>
          </a:xfrm>
          <a:custGeom>
            <a:avLst/>
            <a:gdLst/>
            <a:ahLst/>
            <a:cxnLst/>
            <a:rect l="l" t="t" r="r" b="b"/>
            <a:pathLst>
              <a:path w="9144000" h="5143500">
                <a:moveTo>
                  <a:pt x="0" y="5143500"/>
                </a:moveTo>
                <a:lnTo>
                  <a:pt x="9144000" y="5143500"/>
                </a:lnTo>
                <a:lnTo>
                  <a:pt x="9144000" y="0"/>
                </a:lnTo>
                <a:lnTo>
                  <a:pt x="0" y="0"/>
                </a:lnTo>
                <a:lnTo>
                  <a:pt x="0" y="5143500"/>
                </a:lnTo>
                <a:close/>
              </a:path>
            </a:pathLst>
          </a:custGeom>
          <a:ln w="127000">
            <a:solidFill>
              <a:srgbClr val="252525"/>
            </a:solidFill>
          </a:ln>
        </p:spPr>
        <p:txBody>
          <a:bodyPr wrap="square" lIns="0" tIns="0" rIns="0" bIns="0" rtlCol="0"/>
          <a:lstStyle/>
          <a:p>
            <a:endParaRPr/>
          </a:p>
        </p:txBody>
      </p:sp>
      <p:sp>
        <p:nvSpPr>
          <p:cNvPr id="3" name="object 3"/>
          <p:cNvSpPr txBox="1">
            <a:spLocks noGrp="1"/>
          </p:cNvSpPr>
          <p:nvPr>
            <p:ph type="title"/>
          </p:nvPr>
        </p:nvSpPr>
        <p:spPr>
          <a:xfrm>
            <a:off x="1066800" y="285750"/>
            <a:ext cx="7705548" cy="966931"/>
          </a:xfrm>
          <a:prstGeom prst="rect">
            <a:avLst/>
          </a:prstGeom>
        </p:spPr>
        <p:txBody>
          <a:bodyPr vert="horz" wrap="square" lIns="0" tIns="12700" rIns="0" bIns="0" rtlCol="0">
            <a:spAutoFit/>
          </a:bodyPr>
          <a:lstStyle/>
          <a:p>
            <a:pPr marL="12700">
              <a:spcBef>
                <a:spcPts val="100"/>
              </a:spcBef>
              <a:tabLst>
                <a:tab pos="2435860" algn="l"/>
              </a:tabLst>
            </a:pPr>
            <a:r>
              <a:rPr lang="en-IN" sz="3200" dirty="0"/>
              <a:t>Validation &amp; Exception Module</a:t>
            </a:r>
            <a:br>
              <a:rPr lang="en-IN" sz="3200" dirty="0"/>
            </a:br>
            <a:endParaRPr sz="3000" dirty="0">
              <a:latin typeface="Ebrima"/>
              <a:cs typeface="Ebrima"/>
            </a:endParaRPr>
          </a:p>
        </p:txBody>
      </p:sp>
      <p:sp>
        <p:nvSpPr>
          <p:cNvPr id="10" name="Rectangle 1">
            <a:extLst>
              <a:ext uri="{FF2B5EF4-FFF2-40B4-BE49-F238E27FC236}">
                <a16:creationId xmlns:a16="http://schemas.microsoft.com/office/drawing/2014/main" id="{51FF4CB5-F790-21A6-4672-42EAE388A58D}"/>
              </a:ext>
            </a:extLst>
          </p:cNvPr>
          <p:cNvSpPr>
            <a:spLocks noChangeArrowheads="1"/>
          </p:cNvSpPr>
          <p:nvPr/>
        </p:nvSpPr>
        <p:spPr bwMode="auto">
          <a:xfrm>
            <a:off x="594029" y="938266"/>
            <a:ext cx="830547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Request Validation:</a:t>
            </a:r>
            <a:r>
              <a:rPr kumimoji="0" lang="en-US" altLang="en-US" sz="1800" b="0" i="0" u="none" strike="noStrike" cap="none" normalizeH="0" baseline="0" dirty="0">
                <a:ln>
                  <a:noFill/>
                </a:ln>
                <a:solidFill>
                  <a:schemeClr val="tx1"/>
                </a:solidFill>
                <a:effectLst/>
                <a:latin typeface="Arial" panose="020B0604020202020204" pitchFamily="34" charset="0"/>
              </a:rPr>
              <a:t> Before the data reaches the Service layer, the </a:t>
            </a:r>
            <a:r>
              <a:rPr kumimoji="0" lang="en-US" altLang="en-US" sz="1800" i="0" u="none" strike="noStrike" cap="none" normalizeH="0" baseline="0" dirty="0">
                <a:ln>
                  <a:noFill/>
                </a:ln>
                <a:solidFill>
                  <a:schemeClr val="tx1"/>
                </a:solidFill>
                <a:effectLst/>
                <a:latin typeface="Arial" panose="020B0604020202020204" pitchFamily="34" charset="0"/>
              </a:rPr>
              <a:t>Hibernate </a:t>
            </a:r>
          </a:p>
          <a:p>
            <a:pPr marL="0" marR="0" lvl="0" indent="0" algn="l" defTabSz="914400" rtl="0" eaLnBrk="0" fontAlgn="base" latinLnBrk="0" hangingPunct="0">
              <a:lnSpc>
                <a:spcPct val="100000"/>
              </a:lnSpc>
              <a:spcBef>
                <a:spcPct val="0"/>
              </a:spcBef>
              <a:spcAft>
                <a:spcPct val="0"/>
              </a:spcAft>
              <a:buClrTx/>
              <a:buSzTx/>
              <a:tabLst/>
            </a:pPr>
            <a:r>
              <a:rPr lang="en-US" altLang="en-US" dirty="0">
                <a:solidFill>
                  <a:schemeClr val="tx1"/>
                </a:solidFill>
                <a:latin typeface="Arial" panose="020B0604020202020204" pitchFamily="34" charset="0"/>
              </a:rPr>
              <a:t>  </a:t>
            </a:r>
            <a:r>
              <a:rPr kumimoji="0" lang="en-US" altLang="en-US" sz="1800" i="0" u="none" strike="noStrike" cap="none" normalizeH="0" baseline="0" dirty="0">
                <a:ln>
                  <a:noFill/>
                </a:ln>
                <a:solidFill>
                  <a:schemeClr val="tx1"/>
                </a:solidFill>
                <a:effectLst/>
                <a:latin typeface="Arial" panose="020B0604020202020204" pitchFamily="34" charset="0"/>
              </a:rPr>
              <a:t>Validator checks the annotations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2">
            <a:extLst>
              <a:ext uri="{FF2B5EF4-FFF2-40B4-BE49-F238E27FC236}">
                <a16:creationId xmlns:a16="http://schemas.microsoft.com/office/drawing/2014/main" id="{BF641BEE-81B2-A3B6-0A73-636ADDA90D92}"/>
              </a:ext>
            </a:extLst>
          </p:cNvPr>
          <p:cNvSpPr>
            <a:spLocks noChangeArrowheads="1"/>
          </p:cNvSpPr>
          <p:nvPr/>
        </p:nvSpPr>
        <p:spPr bwMode="auto">
          <a:xfrm>
            <a:off x="592908" y="1663809"/>
            <a:ext cx="8653331"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Centralized Error Handling:</a:t>
            </a:r>
            <a:r>
              <a:rPr kumimoji="0" lang="en-US" altLang="en-US" sz="1800" b="0" i="0" u="none" strike="noStrike" cap="none" normalizeH="0" baseline="0" dirty="0">
                <a:ln>
                  <a:noFill/>
                </a:ln>
                <a:solidFill>
                  <a:schemeClr val="tx1"/>
                </a:solidFill>
                <a:effectLst/>
                <a:latin typeface="Arial" panose="020B0604020202020204" pitchFamily="34" charset="0"/>
              </a:rPr>
              <a:t> If something goes wrong (e.g., you try to an</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employee with ID 999 which doesn't exist), the code throws </a:t>
            </a:r>
            <a:r>
              <a:rPr kumimoji="0" lang="en-US" altLang="en-US" sz="2000" b="0" i="0" u="none" strike="noStrike" cap="none" normalizeH="0" baseline="0" dirty="0">
                <a:ln>
                  <a:noFill/>
                </a:ln>
                <a:solidFill>
                  <a:schemeClr val="tx1"/>
                </a:solidFill>
                <a:effectLst/>
                <a:latin typeface="Arial" panose="020B0604020202020204" pitchFamily="34" charset="0"/>
              </a:rPr>
              <a:t>a </a:t>
            </a:r>
            <a:r>
              <a:rPr kumimoji="0" lang="en-US" altLang="en-US" sz="2000" b="0" i="0" u="none" strike="noStrike" cap="none" normalizeH="0" baseline="0" dirty="0" err="1">
                <a:ln>
                  <a:noFill/>
                </a:ln>
                <a:solidFill>
                  <a:schemeClr val="tx1"/>
                </a:solidFill>
                <a:effectLst/>
                <a:latin typeface="Arial Unicode MS"/>
              </a:rPr>
              <a:t>ResourceNotFoun</a:t>
            </a:r>
            <a:endParaRPr kumimoji="0" lang="en-US" altLang="en-US" sz="20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tabLst/>
            </a:pPr>
            <a:r>
              <a:rPr lang="en-US" altLang="en-US" sz="2000" dirty="0">
                <a:solidFill>
                  <a:schemeClr val="tx1"/>
                </a:solidFill>
                <a:latin typeface="Arial Unicode MS"/>
              </a:rPr>
              <a:t>-</a:t>
            </a:r>
            <a:r>
              <a:rPr kumimoji="0" lang="en-US" altLang="en-US" sz="2000" b="0" i="0" u="none" strike="noStrike" cap="none" normalizeH="0" baseline="0" dirty="0" err="1">
                <a:ln>
                  <a:noFill/>
                </a:ln>
                <a:solidFill>
                  <a:schemeClr val="tx1"/>
                </a:solidFill>
                <a:effectLst/>
                <a:latin typeface="Arial Unicode MS"/>
              </a:rPr>
              <a:t>dException</a:t>
            </a:r>
            <a:r>
              <a:rPr kumimoji="0" lang="en-US" altLang="en-US" sz="2000" b="0" i="0" u="none" strike="noStrike" cap="none" normalizeH="0" baseline="0" dirty="0">
                <a:ln>
                  <a:noFill/>
                </a:ln>
                <a:solidFill>
                  <a:schemeClr val="tx1"/>
                </a:solidFill>
                <a:effectLst/>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Global Response:</a:t>
            </a:r>
            <a:r>
              <a:rPr kumimoji="0" lang="en-US" altLang="en-US" sz="1800" b="0" i="0" u="none" strike="noStrike" cap="none" normalizeH="0" baseline="0" dirty="0">
                <a:ln>
                  <a:noFill/>
                </a:ln>
                <a:solidFill>
                  <a:schemeClr val="tx1"/>
                </a:solidFill>
                <a:effectLst/>
                <a:latin typeface="Arial" panose="020B0604020202020204" pitchFamily="34" charset="0"/>
              </a:rPr>
              <a:t> The </a:t>
            </a:r>
            <a:r>
              <a:rPr kumimoji="0" lang="en-US" altLang="en-US" b="0" i="0" u="none" strike="noStrike" cap="none" normalizeH="0" baseline="0" dirty="0">
                <a:ln>
                  <a:noFill/>
                </a:ln>
                <a:solidFill>
                  <a:schemeClr val="tx1"/>
                </a:solidFill>
                <a:effectLst/>
                <a:latin typeface="Arial Unicode MS"/>
              </a:rPr>
              <a:t>@ControllerAdvice</a:t>
            </a:r>
            <a:r>
              <a:rPr kumimoji="0" lang="en-US" altLang="en-US" b="0" i="0" u="none" strike="noStrike" cap="none" normalizeH="0" baseline="0" dirty="0">
                <a:ln>
                  <a:noFill/>
                </a:ln>
                <a:solidFill>
                  <a:schemeClr val="tx1"/>
                </a:solidFill>
                <a:effectLst/>
              </a:rPr>
              <a:t> class intercepts this exception and </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rPr>
              <a:t> sends a clean, professional JSON response to the user:</a:t>
            </a:r>
            <a:r>
              <a:rPr kumimoji="0" lang="en-US" altLang="en-US" b="0" i="0" u="none" strike="noStrike" cap="none" normalizeH="0" baseline="0" dirty="0">
                <a:ln>
                  <a:noFill/>
                </a:ln>
                <a:solidFill>
                  <a:schemeClr val="tx1"/>
                </a:solidFill>
                <a:effectLst/>
                <a:latin typeface="Arial Unicode MS"/>
              </a:rPr>
              <a:t>{ "error": "Employee not </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Unicode MS"/>
              </a:rPr>
              <a:t> found", "status": 404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1371600" y="-147579"/>
            <a:ext cx="6324600" cy="951798"/>
          </a:xfrm>
          <a:prstGeom prst="rect">
            <a:avLst/>
          </a:prstGeom>
        </p:spPr>
        <p:txBody>
          <a:bodyPr vert="horz" wrap="square" lIns="0" tIns="454913" rIns="0" bIns="0" rtlCol="0">
            <a:spAutoFit/>
          </a:bodyPr>
          <a:lstStyle/>
          <a:p>
            <a:pPr marL="132715">
              <a:lnSpc>
                <a:spcPct val="100000"/>
              </a:lnSpc>
              <a:spcBef>
                <a:spcPts val="100"/>
              </a:spcBef>
            </a:pPr>
            <a:r>
              <a:rPr lang="en-IN" sz="3200" dirty="0"/>
              <a:t>AOP Logging &amp; Audit Module</a:t>
            </a:r>
            <a:endParaRPr sz="3000" dirty="0">
              <a:latin typeface="Ebrima"/>
              <a:cs typeface="Ebrima"/>
            </a:endParaRPr>
          </a:p>
        </p:txBody>
      </p:sp>
      <p:sp>
        <p:nvSpPr>
          <p:cNvPr id="6" name="TextBox 5">
            <a:extLst>
              <a:ext uri="{FF2B5EF4-FFF2-40B4-BE49-F238E27FC236}">
                <a16:creationId xmlns:a16="http://schemas.microsoft.com/office/drawing/2014/main" id="{316EBA03-BDAE-3F44-6B6E-EBDFF01E5C95}"/>
              </a:ext>
            </a:extLst>
          </p:cNvPr>
          <p:cNvSpPr txBox="1"/>
          <p:nvPr/>
        </p:nvSpPr>
        <p:spPr>
          <a:xfrm>
            <a:off x="671590" y="1226225"/>
            <a:ext cx="8458200" cy="923330"/>
          </a:xfrm>
          <a:prstGeom prst="rect">
            <a:avLst/>
          </a:prstGeom>
          <a:noFill/>
        </p:spPr>
        <p:txBody>
          <a:bodyPr wrap="square">
            <a:spAutoFit/>
          </a:bodyPr>
          <a:lstStyle/>
          <a:p>
            <a:r>
              <a:rPr lang="en-US" dirty="0"/>
              <a:t>This module uses </a:t>
            </a:r>
            <a:r>
              <a:rPr lang="en-US" b="1" dirty="0"/>
              <a:t>Aspect-Oriented Programming</a:t>
            </a:r>
            <a:r>
              <a:rPr lang="en-US" dirty="0"/>
              <a:t> to observe the system without interfering with the logic.</a:t>
            </a:r>
          </a:p>
          <a:p>
            <a:endParaRPr lang="en-IN" dirty="0"/>
          </a:p>
        </p:txBody>
      </p:sp>
      <p:sp>
        <p:nvSpPr>
          <p:cNvPr id="7" name="Rectangle 1">
            <a:extLst>
              <a:ext uri="{FF2B5EF4-FFF2-40B4-BE49-F238E27FC236}">
                <a16:creationId xmlns:a16="http://schemas.microsoft.com/office/drawing/2014/main" id="{FBB8EC87-37D2-C443-D169-03382E7AC1D9}"/>
              </a:ext>
            </a:extLst>
          </p:cNvPr>
          <p:cNvSpPr>
            <a:spLocks noChangeArrowheads="1"/>
          </p:cNvSpPr>
          <p:nvPr/>
        </p:nvSpPr>
        <p:spPr bwMode="auto">
          <a:xfrm>
            <a:off x="553186" y="1885950"/>
            <a:ext cx="8695009"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Aspects &amp; Pointcuts:</a:t>
            </a:r>
            <a:r>
              <a:rPr kumimoji="0" lang="en-US" altLang="en-US" sz="1800" b="0" i="0" u="none" strike="noStrike" cap="none" normalizeH="0" baseline="0" dirty="0">
                <a:ln>
                  <a:noFill/>
                </a:ln>
                <a:solidFill>
                  <a:schemeClr val="tx1"/>
                </a:solidFill>
                <a:effectLst/>
                <a:latin typeface="Arial" panose="020B0604020202020204" pitchFamily="34" charset="0"/>
              </a:rPr>
              <a:t> You define an "Aspect" (a piece of code) and a "Pointcut“</a:t>
            </a:r>
          </a:p>
          <a:p>
            <a:pPr marR="0" lvl="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(where that code should run, e.g., "all methods in the Service layer").</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Interception:</a:t>
            </a:r>
            <a:r>
              <a:rPr kumimoji="0" lang="en-US" altLang="en-US" sz="1800" b="0" i="0" u="none" strike="noStrike" cap="none" normalizeH="0" baseline="0" dirty="0">
                <a:ln>
                  <a:noFill/>
                </a:ln>
                <a:solidFill>
                  <a:schemeClr val="tx1"/>
                </a:solidFill>
                <a:effectLst/>
                <a:latin typeface="Arial" panose="020B0604020202020204" pitchFamily="34" charset="0"/>
              </a:rPr>
              <a:t> Every time a service method is called, the AOP proxy "wraps" the</a:t>
            </a:r>
          </a:p>
          <a:p>
            <a:pPr marR="0" lvl="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call.</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Automated Logging:</a:t>
            </a:r>
            <a:r>
              <a:rPr kumimoji="0" lang="en-US" altLang="en-US" sz="1800" b="0" i="0" u="none" strike="noStrike" cap="none" normalizeH="0" baseline="0" dirty="0">
                <a:ln>
                  <a:noFill/>
                </a:ln>
                <a:solidFill>
                  <a:schemeClr val="tx1"/>
                </a:solidFill>
                <a:effectLst/>
                <a:latin typeface="Arial" panose="020B0604020202020204" pitchFamily="34" charset="0"/>
              </a:rPr>
              <a:t> It automatically logs the method name and the time it took</a:t>
            </a:r>
            <a:endParaRPr lang="en-US" altLang="en-US" dirty="0">
              <a:solidFill>
                <a:schemeClr val="tx1"/>
              </a:solidFill>
              <a:latin typeface="Arial" panose="020B0604020202020204" pitchFamily="34" charset="0"/>
            </a:endParaRPr>
          </a:p>
          <a:p>
            <a:pPr marR="0" lvl="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to execute. This is crucial for </a:t>
            </a:r>
            <a:r>
              <a:rPr kumimoji="0" lang="en-US" altLang="en-US" sz="1800" b="1" i="0" u="none" strike="noStrike" cap="none" normalizeH="0" baseline="0" dirty="0">
                <a:ln>
                  <a:noFill/>
                </a:ln>
                <a:solidFill>
                  <a:schemeClr val="tx1"/>
                </a:solidFill>
                <a:effectLst/>
                <a:latin typeface="Arial" panose="020B0604020202020204" pitchFamily="34" charset="0"/>
              </a:rPr>
              <a:t>Production Debugging</a:t>
            </a:r>
            <a:r>
              <a:rPr kumimoji="0" lang="en-US" altLang="en-US" sz="1800" b="0" i="0" u="none" strike="noStrike" cap="none" normalizeH="0" baseline="0" dirty="0">
                <a:ln>
                  <a:noFill/>
                </a:ln>
                <a:solidFill>
                  <a:schemeClr val="tx1"/>
                </a:solidFill>
                <a:effectLst/>
                <a:latin typeface="Arial" panose="020B0604020202020204" pitchFamily="34" charset="0"/>
              </a:rPr>
              <a:t>—if a process is slow, the</a:t>
            </a:r>
          </a:p>
          <a:p>
            <a:pPr marR="0" lvl="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AOP logs will show exactly which method is causing the delay.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127254"/>
            <a:ext cx="9100006" cy="829278"/>
          </a:xfrm>
          <a:prstGeom prst="rect">
            <a:avLst/>
          </a:prstGeom>
        </p:spPr>
        <p:txBody>
          <a:bodyPr vert="horz" wrap="square" lIns="0" tIns="333578" rIns="0" bIns="0" rtlCol="0">
            <a:spAutoFit/>
          </a:bodyPr>
          <a:lstStyle/>
          <a:p>
            <a:pPr marL="1796414">
              <a:lnSpc>
                <a:spcPct val="100000"/>
              </a:lnSpc>
              <a:spcBef>
                <a:spcPts val="100"/>
              </a:spcBef>
            </a:pPr>
            <a:r>
              <a:rPr lang="en-IN" sz="3200" dirty="0"/>
              <a:t>Infrastructure &amp; Documentation Module</a:t>
            </a:r>
            <a:endParaRPr sz="3200" dirty="0"/>
          </a:p>
        </p:txBody>
      </p:sp>
      <p:sp>
        <p:nvSpPr>
          <p:cNvPr id="3" name="object 3"/>
          <p:cNvSpPr/>
          <p:nvPr/>
        </p:nvSpPr>
        <p:spPr>
          <a:xfrm>
            <a:off x="0" y="0"/>
            <a:ext cx="108585" cy="387350"/>
          </a:xfrm>
          <a:custGeom>
            <a:avLst/>
            <a:gdLst/>
            <a:ahLst/>
            <a:cxnLst/>
            <a:rect l="l" t="t" r="r" b="b"/>
            <a:pathLst>
              <a:path w="108585" h="387350">
                <a:moveTo>
                  <a:pt x="0" y="386969"/>
                </a:moveTo>
                <a:lnTo>
                  <a:pt x="108534" y="386969"/>
                </a:lnTo>
                <a:lnTo>
                  <a:pt x="108534" y="0"/>
                </a:lnTo>
                <a:lnTo>
                  <a:pt x="0" y="0"/>
                </a:lnTo>
                <a:lnTo>
                  <a:pt x="0" y="386969"/>
                </a:lnTo>
                <a:close/>
              </a:path>
            </a:pathLst>
          </a:custGeom>
          <a:solidFill>
            <a:srgbClr val="EDEBE0"/>
          </a:solidFill>
        </p:spPr>
        <p:txBody>
          <a:bodyPr wrap="square" lIns="0" tIns="0" rIns="0" bIns="0" rtlCol="0"/>
          <a:lstStyle/>
          <a:p>
            <a:endParaRPr/>
          </a:p>
        </p:txBody>
      </p:sp>
      <p:sp>
        <p:nvSpPr>
          <p:cNvPr id="4" name="object 4"/>
          <p:cNvSpPr txBox="1">
            <a:spLocks noGrp="1"/>
          </p:cNvSpPr>
          <p:nvPr>
            <p:ph type="body" idx="1"/>
          </p:nvPr>
        </p:nvSpPr>
        <p:spPr>
          <a:xfrm>
            <a:off x="381736" y="1227582"/>
            <a:ext cx="8380526" cy="3380413"/>
          </a:xfrm>
          <a:prstGeom prst="rect">
            <a:avLst/>
          </a:prstGeom>
        </p:spPr>
        <p:txBody>
          <a:bodyPr vert="horz" wrap="square" lIns="0" tIns="12700" rIns="0" bIns="0" rtlCol="0">
            <a:spAutoFit/>
          </a:bodyPr>
          <a:lstStyle/>
          <a:p>
            <a:pPr marL="742950" lvl="1" indent="-285750">
              <a:buFont typeface="Wingdings" panose="05000000000000000000" pitchFamily="2" charset="2"/>
              <a:buChar char="q"/>
            </a:pPr>
            <a:r>
              <a:rPr lang="en-US" sz="2000" b="1" dirty="0"/>
              <a:t>Swagger/</a:t>
            </a:r>
            <a:r>
              <a:rPr lang="en-US" sz="2000" b="1" dirty="0" err="1"/>
              <a:t>OpenAPI</a:t>
            </a:r>
            <a:r>
              <a:rPr lang="en-US" sz="2000" b="1" dirty="0"/>
              <a:t>:</a:t>
            </a:r>
            <a:r>
              <a:rPr lang="en-US" sz="2000" dirty="0"/>
              <a:t> By adding a few dependencies, Spring Boot scans your controllers and generates a visual webpage (Swagger UI). Developers can use this page to test the API endpoints (like a built-in Postman).</a:t>
            </a:r>
          </a:p>
          <a:p>
            <a:pPr marL="742950" lvl="1" indent="-285750">
              <a:buFont typeface="Wingdings" panose="05000000000000000000" pitchFamily="2" charset="2"/>
              <a:buChar char="q"/>
            </a:pPr>
            <a:r>
              <a:rPr lang="en-US" sz="2000" b="1" dirty="0"/>
              <a:t>Database Configuration:</a:t>
            </a:r>
            <a:r>
              <a:rPr lang="en-US" sz="2000" dirty="0"/>
              <a:t> Manages the </a:t>
            </a:r>
            <a:r>
              <a:rPr lang="en-US" sz="2000" b="1" dirty="0"/>
              <a:t>Hikari Connection Pool</a:t>
            </a:r>
            <a:r>
              <a:rPr lang="en-US" sz="2000" dirty="0"/>
              <a:t>, which keeps a set of database connections ready to use, significantly speeding up the app.</a:t>
            </a:r>
          </a:p>
          <a:p>
            <a:pPr marL="742950" lvl="1" indent="-285750">
              <a:buFont typeface="Wingdings" panose="05000000000000000000" pitchFamily="2" charset="2"/>
              <a:buChar char="q"/>
            </a:pPr>
            <a:r>
              <a:rPr lang="en-US" sz="2000" b="1" dirty="0"/>
              <a:t>Cloud Readiness:</a:t>
            </a:r>
            <a:r>
              <a:rPr lang="en-US" sz="2000" dirty="0"/>
              <a:t> This module ensures the app uses </a:t>
            </a:r>
            <a:r>
              <a:rPr lang="en-US" sz="2000" dirty="0" err="1"/>
              <a:t>application.properties</a:t>
            </a:r>
            <a:r>
              <a:rPr lang="en-US" sz="2000" dirty="0"/>
              <a:t> or environment variables, making it easy to deploy on cloud platforms like AWS or Azure.</a:t>
            </a:r>
          </a:p>
          <a:p>
            <a:pPr marL="24130">
              <a:lnSpc>
                <a:spcPct val="100000"/>
              </a:lnSpc>
              <a:spcBef>
                <a:spcPts val="100"/>
              </a:spcBef>
              <a:buClr>
                <a:srgbClr val="FF0000"/>
              </a:buClr>
              <a:tabLst>
                <a:tab pos="310515" algn="l"/>
              </a:tabLst>
            </a:pPr>
            <a:endParaRPr spc="-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55394" y="1814906"/>
            <a:ext cx="5224145" cy="848994"/>
          </a:xfrm>
          <a:prstGeom prst="rect">
            <a:avLst/>
          </a:prstGeom>
        </p:spPr>
        <p:txBody>
          <a:bodyPr vert="horz" wrap="square" lIns="0" tIns="12700" rIns="0" bIns="0" rtlCol="0">
            <a:spAutoFit/>
          </a:bodyPr>
          <a:lstStyle/>
          <a:p>
            <a:pPr marL="12700">
              <a:lnSpc>
                <a:spcPct val="100000"/>
              </a:lnSpc>
              <a:spcBef>
                <a:spcPts val="100"/>
              </a:spcBef>
            </a:pPr>
            <a:r>
              <a:rPr sz="5400" spc="-270" dirty="0"/>
              <a:t>DATA</a:t>
            </a:r>
            <a:r>
              <a:rPr sz="5400" spc="10" dirty="0"/>
              <a:t> </a:t>
            </a:r>
            <a:r>
              <a:rPr sz="5400" spc="-10" dirty="0"/>
              <a:t>DICTIONARY</a:t>
            </a:r>
            <a:endParaRPr sz="5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96011" rIns="0" bIns="0" rtlCol="0">
            <a:spAutoFit/>
          </a:bodyPr>
          <a:lstStyle/>
          <a:p>
            <a:pPr marL="2105025">
              <a:lnSpc>
                <a:spcPct val="100000"/>
              </a:lnSpc>
              <a:spcBef>
                <a:spcPts val="100"/>
              </a:spcBef>
            </a:pPr>
            <a:r>
              <a:rPr spc="-30" dirty="0"/>
              <a:t>TABLES</a:t>
            </a:r>
            <a:r>
              <a:rPr spc="-50" dirty="0"/>
              <a:t> </a:t>
            </a:r>
            <a:r>
              <a:rPr dirty="0"/>
              <a:t>OF</a:t>
            </a:r>
            <a:r>
              <a:rPr spc="-35" dirty="0"/>
              <a:t> </a:t>
            </a:r>
            <a:r>
              <a:rPr spc="-55" dirty="0"/>
              <a:t>DATABASE</a:t>
            </a:r>
          </a:p>
        </p:txBody>
      </p:sp>
      <p:pic>
        <p:nvPicPr>
          <p:cNvPr id="7" name="Picture 6">
            <a:extLst>
              <a:ext uri="{FF2B5EF4-FFF2-40B4-BE49-F238E27FC236}">
                <a16:creationId xmlns:a16="http://schemas.microsoft.com/office/drawing/2014/main" id="{B11ADDB2-6214-5725-6707-DC9585DF8C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094" y="819150"/>
            <a:ext cx="8795206" cy="422191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3109722" y="240284"/>
            <a:ext cx="2319020" cy="391160"/>
          </a:xfrm>
          <a:prstGeom prst="rect">
            <a:avLst/>
          </a:prstGeom>
        </p:spPr>
        <p:txBody>
          <a:bodyPr vert="horz" wrap="square" lIns="0" tIns="12700" rIns="0" bIns="0" rtlCol="0">
            <a:spAutoFit/>
          </a:bodyPr>
          <a:lstStyle/>
          <a:p>
            <a:pPr marL="12700">
              <a:lnSpc>
                <a:spcPct val="100000"/>
              </a:lnSpc>
              <a:spcBef>
                <a:spcPts val="100"/>
              </a:spcBef>
            </a:pPr>
            <a:r>
              <a:rPr dirty="0"/>
              <a:t>ADMIN</a:t>
            </a:r>
            <a:r>
              <a:rPr spc="-20" dirty="0"/>
              <a:t> </a:t>
            </a:r>
            <a:r>
              <a:rPr spc="-55" dirty="0"/>
              <a:t>DATABASE</a:t>
            </a:r>
          </a:p>
        </p:txBody>
      </p:sp>
      <p:pic>
        <p:nvPicPr>
          <p:cNvPr id="7" name="Picture 6">
            <a:extLst>
              <a:ext uri="{FF2B5EF4-FFF2-40B4-BE49-F238E27FC236}">
                <a16:creationId xmlns:a16="http://schemas.microsoft.com/office/drawing/2014/main" id="{BEE2E954-9C84-A09B-B373-CB62E3FEF4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443"/>
            <a:ext cx="9144000" cy="451080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4545C-5CE8-B0E0-280F-596195C9B6DA}"/>
              </a:ext>
            </a:extLst>
          </p:cNvPr>
          <p:cNvSpPr>
            <a:spLocks noGrp="1"/>
          </p:cNvSpPr>
          <p:nvPr>
            <p:ph type="title"/>
          </p:nvPr>
        </p:nvSpPr>
        <p:spPr>
          <a:xfrm>
            <a:off x="2895600" y="228711"/>
            <a:ext cx="2819400" cy="369332"/>
          </a:xfrm>
        </p:spPr>
        <p:txBody>
          <a:bodyPr/>
          <a:lstStyle/>
          <a:p>
            <a:r>
              <a:rPr lang="en-IN" dirty="0"/>
              <a:t>DATABASE CODE</a:t>
            </a:r>
          </a:p>
        </p:txBody>
      </p:sp>
      <p:sp>
        <p:nvSpPr>
          <p:cNvPr id="3" name="Text Placeholder 2">
            <a:extLst>
              <a:ext uri="{FF2B5EF4-FFF2-40B4-BE49-F238E27FC236}">
                <a16:creationId xmlns:a16="http://schemas.microsoft.com/office/drawing/2014/main" id="{DBE8B89F-51A0-D2A4-9691-A498E773F45F}"/>
              </a:ext>
            </a:extLst>
          </p:cNvPr>
          <p:cNvSpPr>
            <a:spLocks noGrp="1"/>
          </p:cNvSpPr>
          <p:nvPr>
            <p:ph type="body" idx="1"/>
          </p:nvPr>
        </p:nvSpPr>
        <p:spPr>
          <a:xfrm>
            <a:off x="304800" y="912812"/>
            <a:ext cx="8380526" cy="3317875"/>
          </a:xfrm>
        </p:spPr>
        <p:txBody>
          <a:bodyPr/>
          <a:lstStyle/>
          <a:p>
            <a:endParaRPr lang="en-IN" dirty="0"/>
          </a:p>
        </p:txBody>
      </p:sp>
      <p:pic>
        <p:nvPicPr>
          <p:cNvPr id="5" name="Picture 4">
            <a:extLst>
              <a:ext uri="{FF2B5EF4-FFF2-40B4-BE49-F238E27FC236}">
                <a16:creationId xmlns:a16="http://schemas.microsoft.com/office/drawing/2014/main" id="{13AD75FF-8F3C-B772-141C-F92F8545B6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42951"/>
            <a:ext cx="9144000" cy="4399294"/>
          </a:xfrm>
          <a:prstGeom prst="rect">
            <a:avLst/>
          </a:prstGeom>
        </p:spPr>
      </p:pic>
    </p:spTree>
    <p:extLst>
      <p:ext uri="{BB962C8B-B14F-4D97-AF65-F5344CB8AC3E}">
        <p14:creationId xmlns:p14="http://schemas.microsoft.com/office/powerpoint/2010/main" val="7773233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1FE94-63A6-D9B6-2B5F-E9903C9018C8}"/>
              </a:ext>
            </a:extLst>
          </p:cNvPr>
          <p:cNvSpPr>
            <a:spLocks noGrp="1"/>
          </p:cNvSpPr>
          <p:nvPr>
            <p:ph type="title"/>
          </p:nvPr>
        </p:nvSpPr>
        <p:spPr>
          <a:xfrm>
            <a:off x="2438400" y="228711"/>
            <a:ext cx="4038600" cy="369332"/>
          </a:xfrm>
        </p:spPr>
        <p:txBody>
          <a:bodyPr/>
          <a:lstStyle/>
          <a:p>
            <a:r>
              <a:rPr lang="en-IN" dirty="0"/>
              <a:t>USER DATABASE TABLE</a:t>
            </a:r>
          </a:p>
        </p:txBody>
      </p:sp>
      <p:sp>
        <p:nvSpPr>
          <p:cNvPr id="3" name="Text Placeholder 2">
            <a:extLst>
              <a:ext uri="{FF2B5EF4-FFF2-40B4-BE49-F238E27FC236}">
                <a16:creationId xmlns:a16="http://schemas.microsoft.com/office/drawing/2014/main" id="{4E73C0A2-C7C8-46A2-CD96-C901494A1492}"/>
              </a:ext>
            </a:extLst>
          </p:cNvPr>
          <p:cNvSpPr>
            <a:spLocks noGrp="1"/>
          </p:cNvSpPr>
          <p:nvPr>
            <p:ph type="body" idx="1"/>
          </p:nvPr>
        </p:nvSpPr>
        <p:spPr>
          <a:xfrm>
            <a:off x="381737" y="657225"/>
            <a:ext cx="8380526" cy="3317875"/>
          </a:xfrm>
        </p:spPr>
        <p:txBody>
          <a:bodyPr/>
          <a:lstStyle/>
          <a:p>
            <a:endParaRPr lang="en-IN" dirty="0"/>
          </a:p>
        </p:txBody>
      </p:sp>
      <p:pic>
        <p:nvPicPr>
          <p:cNvPr id="5" name="Picture 4">
            <a:extLst>
              <a:ext uri="{FF2B5EF4-FFF2-40B4-BE49-F238E27FC236}">
                <a16:creationId xmlns:a16="http://schemas.microsoft.com/office/drawing/2014/main" id="{3CA2BFCD-8C5A-6D15-D1BD-9AD5473F8F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738" y="657225"/>
            <a:ext cx="8457462" cy="4257564"/>
          </a:xfrm>
          <a:prstGeom prst="rect">
            <a:avLst/>
          </a:prstGeom>
        </p:spPr>
      </p:pic>
    </p:spTree>
    <p:extLst>
      <p:ext uri="{BB962C8B-B14F-4D97-AF65-F5344CB8AC3E}">
        <p14:creationId xmlns:p14="http://schemas.microsoft.com/office/powerpoint/2010/main" val="33626711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B2B12-AA20-A16F-B8D1-4CE71695FC0B}"/>
              </a:ext>
            </a:extLst>
          </p:cNvPr>
          <p:cNvSpPr>
            <a:spLocks noGrp="1"/>
          </p:cNvSpPr>
          <p:nvPr>
            <p:ph type="title"/>
          </p:nvPr>
        </p:nvSpPr>
        <p:spPr>
          <a:xfrm>
            <a:off x="2057400" y="133350"/>
            <a:ext cx="4253764" cy="369332"/>
          </a:xfrm>
        </p:spPr>
        <p:txBody>
          <a:bodyPr/>
          <a:lstStyle/>
          <a:p>
            <a:r>
              <a:rPr lang="en-IN" dirty="0"/>
              <a:t>Spring Boot Application Running</a:t>
            </a:r>
          </a:p>
        </p:txBody>
      </p:sp>
      <p:sp>
        <p:nvSpPr>
          <p:cNvPr id="3" name="Text Placeholder 2">
            <a:extLst>
              <a:ext uri="{FF2B5EF4-FFF2-40B4-BE49-F238E27FC236}">
                <a16:creationId xmlns:a16="http://schemas.microsoft.com/office/drawing/2014/main" id="{890C95E2-F929-BAA6-6644-1DF93261E9D0}"/>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3253398B-FEBD-6A4F-0F0F-DDE35D8C7A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491404"/>
            <a:ext cx="8763000" cy="4518745"/>
          </a:xfrm>
          <a:prstGeom prst="rect">
            <a:avLst/>
          </a:prstGeom>
        </p:spPr>
      </p:pic>
    </p:spTree>
    <p:extLst>
      <p:ext uri="{BB962C8B-B14F-4D97-AF65-F5344CB8AC3E}">
        <p14:creationId xmlns:p14="http://schemas.microsoft.com/office/powerpoint/2010/main" val="36510757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DA9B2-3F35-5332-BBF8-BF1E969F9099}"/>
              </a:ext>
            </a:extLst>
          </p:cNvPr>
          <p:cNvSpPr>
            <a:spLocks noGrp="1"/>
          </p:cNvSpPr>
          <p:nvPr>
            <p:ph type="title"/>
          </p:nvPr>
        </p:nvSpPr>
        <p:spPr>
          <a:xfrm>
            <a:off x="3581400" y="324634"/>
            <a:ext cx="1981200" cy="369332"/>
          </a:xfrm>
        </p:spPr>
        <p:txBody>
          <a:bodyPr/>
          <a:lstStyle/>
          <a:p>
            <a:r>
              <a:rPr lang="en-IN" dirty="0"/>
              <a:t>Login Form</a:t>
            </a:r>
          </a:p>
        </p:txBody>
      </p:sp>
      <p:sp>
        <p:nvSpPr>
          <p:cNvPr id="3" name="Text Placeholder 2">
            <a:extLst>
              <a:ext uri="{FF2B5EF4-FFF2-40B4-BE49-F238E27FC236}">
                <a16:creationId xmlns:a16="http://schemas.microsoft.com/office/drawing/2014/main" id="{66519FCE-22D9-EA94-E1C6-B46823B9D38F}"/>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FEF62747-4BE5-9527-CA87-2A7563A4DC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457" y="868441"/>
            <a:ext cx="8642805" cy="3406618"/>
          </a:xfrm>
          <a:prstGeom prst="rect">
            <a:avLst/>
          </a:prstGeom>
        </p:spPr>
      </p:pic>
    </p:spTree>
    <p:extLst>
      <p:ext uri="{BB962C8B-B14F-4D97-AF65-F5344CB8AC3E}">
        <p14:creationId xmlns:p14="http://schemas.microsoft.com/office/powerpoint/2010/main" val="29970687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71F73-D682-3477-68F1-5743604D86A3}"/>
              </a:ext>
            </a:extLst>
          </p:cNvPr>
          <p:cNvSpPr>
            <a:spLocks noGrp="1"/>
          </p:cNvSpPr>
          <p:nvPr>
            <p:ph type="title"/>
          </p:nvPr>
        </p:nvSpPr>
        <p:spPr>
          <a:xfrm>
            <a:off x="3048000" y="617093"/>
            <a:ext cx="3613608" cy="369332"/>
          </a:xfrm>
        </p:spPr>
        <p:txBody>
          <a:bodyPr/>
          <a:lstStyle/>
          <a:p>
            <a:r>
              <a:rPr lang="en-IN" dirty="0"/>
              <a:t>Main Interface</a:t>
            </a:r>
          </a:p>
        </p:txBody>
      </p:sp>
      <p:sp>
        <p:nvSpPr>
          <p:cNvPr id="3" name="Text Placeholder 2">
            <a:extLst>
              <a:ext uri="{FF2B5EF4-FFF2-40B4-BE49-F238E27FC236}">
                <a16:creationId xmlns:a16="http://schemas.microsoft.com/office/drawing/2014/main" id="{49E93200-29BC-22E4-75AB-8849DEA3C9AB}"/>
              </a:ext>
            </a:extLst>
          </p:cNvPr>
          <p:cNvSpPr>
            <a:spLocks noGrp="1"/>
          </p:cNvSpPr>
          <p:nvPr>
            <p:ph type="body" idx="1"/>
          </p:nvPr>
        </p:nvSpPr>
        <p:spPr/>
        <p:txBody>
          <a:bodyPr/>
          <a:lstStyle/>
          <a:p>
            <a:endParaRPr lang="en-IN" dirty="0"/>
          </a:p>
        </p:txBody>
      </p:sp>
      <p:pic>
        <p:nvPicPr>
          <p:cNvPr id="7" name="Picture 6">
            <a:extLst>
              <a:ext uri="{FF2B5EF4-FFF2-40B4-BE49-F238E27FC236}">
                <a16:creationId xmlns:a16="http://schemas.microsoft.com/office/drawing/2014/main" id="{DC6EDC12-10D3-73CC-DE8E-E7F9F168F7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227581"/>
            <a:ext cx="8686800" cy="3385837"/>
          </a:xfrm>
          <a:prstGeom prst="rect">
            <a:avLst/>
          </a:prstGeom>
        </p:spPr>
      </p:pic>
    </p:spTree>
    <p:extLst>
      <p:ext uri="{BB962C8B-B14F-4D97-AF65-F5344CB8AC3E}">
        <p14:creationId xmlns:p14="http://schemas.microsoft.com/office/powerpoint/2010/main" val="9295711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A194F-2C1B-0B22-5076-AD4068306F2B}"/>
              </a:ext>
            </a:extLst>
          </p:cNvPr>
          <p:cNvSpPr>
            <a:spLocks noGrp="1"/>
          </p:cNvSpPr>
          <p:nvPr>
            <p:ph type="title"/>
          </p:nvPr>
        </p:nvSpPr>
        <p:spPr>
          <a:xfrm>
            <a:off x="2819400" y="413377"/>
            <a:ext cx="3232608" cy="369332"/>
          </a:xfrm>
        </p:spPr>
        <p:txBody>
          <a:bodyPr/>
          <a:lstStyle/>
          <a:p>
            <a:r>
              <a:rPr lang="en-IN" dirty="0"/>
              <a:t>Adding New Employee</a:t>
            </a:r>
          </a:p>
        </p:txBody>
      </p:sp>
      <p:sp>
        <p:nvSpPr>
          <p:cNvPr id="3" name="Text Placeholder 2">
            <a:extLst>
              <a:ext uri="{FF2B5EF4-FFF2-40B4-BE49-F238E27FC236}">
                <a16:creationId xmlns:a16="http://schemas.microsoft.com/office/drawing/2014/main" id="{FCCBF421-D5D1-22DF-B5DD-94BF48678C80}"/>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0B725238-9E3A-95C2-EB3F-2F8E4E3F56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1227582"/>
            <a:ext cx="8686062" cy="3401568"/>
          </a:xfrm>
          <a:prstGeom prst="rect">
            <a:avLst/>
          </a:prstGeom>
        </p:spPr>
      </p:pic>
    </p:spTree>
    <p:extLst>
      <p:ext uri="{BB962C8B-B14F-4D97-AF65-F5344CB8AC3E}">
        <p14:creationId xmlns:p14="http://schemas.microsoft.com/office/powerpoint/2010/main" val="37056170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1CE15-C29F-5788-024A-A153445E5564}"/>
              </a:ext>
            </a:extLst>
          </p:cNvPr>
          <p:cNvSpPr>
            <a:spLocks noGrp="1"/>
          </p:cNvSpPr>
          <p:nvPr>
            <p:ph type="title"/>
          </p:nvPr>
        </p:nvSpPr>
        <p:spPr>
          <a:xfrm>
            <a:off x="2460395" y="413377"/>
            <a:ext cx="4223208" cy="369332"/>
          </a:xfrm>
        </p:spPr>
        <p:txBody>
          <a:bodyPr/>
          <a:lstStyle/>
          <a:p>
            <a:r>
              <a:rPr lang="en-IN" dirty="0"/>
              <a:t>Updated Employee Details</a:t>
            </a:r>
          </a:p>
        </p:txBody>
      </p:sp>
      <p:sp>
        <p:nvSpPr>
          <p:cNvPr id="3" name="Text Placeholder 2">
            <a:extLst>
              <a:ext uri="{FF2B5EF4-FFF2-40B4-BE49-F238E27FC236}">
                <a16:creationId xmlns:a16="http://schemas.microsoft.com/office/drawing/2014/main" id="{A3C1A8D0-2774-0B72-BCC2-99C38CE19A08}"/>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705C12EB-BA2C-2340-3FD4-AF3F8F60FA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396" y="1227582"/>
            <a:ext cx="8795206" cy="3459674"/>
          </a:xfrm>
          <a:prstGeom prst="rect">
            <a:avLst/>
          </a:prstGeom>
        </p:spPr>
      </p:pic>
    </p:spTree>
    <p:extLst>
      <p:ext uri="{BB962C8B-B14F-4D97-AF65-F5344CB8AC3E}">
        <p14:creationId xmlns:p14="http://schemas.microsoft.com/office/powerpoint/2010/main" val="9027475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34B05-211A-55B4-8804-83299C1AA4A3}"/>
              </a:ext>
            </a:extLst>
          </p:cNvPr>
          <p:cNvSpPr>
            <a:spLocks noGrp="1"/>
          </p:cNvSpPr>
          <p:nvPr>
            <p:ph type="title"/>
          </p:nvPr>
        </p:nvSpPr>
        <p:spPr>
          <a:xfrm>
            <a:off x="2362200" y="190941"/>
            <a:ext cx="4064914" cy="369332"/>
          </a:xfrm>
        </p:spPr>
        <p:txBody>
          <a:bodyPr/>
          <a:lstStyle/>
          <a:p>
            <a:r>
              <a:rPr lang="en-IN" dirty="0"/>
              <a:t>System User Management</a:t>
            </a:r>
          </a:p>
        </p:txBody>
      </p:sp>
      <p:sp>
        <p:nvSpPr>
          <p:cNvPr id="3" name="Text Placeholder 2">
            <a:extLst>
              <a:ext uri="{FF2B5EF4-FFF2-40B4-BE49-F238E27FC236}">
                <a16:creationId xmlns:a16="http://schemas.microsoft.com/office/drawing/2014/main" id="{E84263D0-C435-35DC-410B-4CF2854284D9}"/>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CAA894B1-273E-663F-5C6E-176BA7FD86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82709"/>
            <a:ext cx="9144000" cy="4456042"/>
          </a:xfrm>
          <a:prstGeom prst="rect">
            <a:avLst/>
          </a:prstGeom>
        </p:spPr>
      </p:pic>
    </p:spTree>
    <p:extLst>
      <p:ext uri="{BB962C8B-B14F-4D97-AF65-F5344CB8AC3E}">
        <p14:creationId xmlns:p14="http://schemas.microsoft.com/office/powerpoint/2010/main" val="42300667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1AFF7-9237-5CF0-055E-BBB63163FCD4}"/>
              </a:ext>
            </a:extLst>
          </p:cNvPr>
          <p:cNvSpPr>
            <a:spLocks noGrp="1"/>
          </p:cNvSpPr>
          <p:nvPr>
            <p:ph type="title"/>
          </p:nvPr>
        </p:nvSpPr>
        <p:spPr>
          <a:xfrm>
            <a:off x="2514600" y="413377"/>
            <a:ext cx="3352064" cy="369332"/>
          </a:xfrm>
        </p:spPr>
        <p:txBody>
          <a:bodyPr/>
          <a:lstStyle/>
          <a:p>
            <a:r>
              <a:rPr lang="en-IN" dirty="0"/>
              <a:t>Register New Login</a:t>
            </a:r>
          </a:p>
        </p:txBody>
      </p:sp>
      <p:sp>
        <p:nvSpPr>
          <p:cNvPr id="3" name="Text Placeholder 2">
            <a:extLst>
              <a:ext uri="{FF2B5EF4-FFF2-40B4-BE49-F238E27FC236}">
                <a16:creationId xmlns:a16="http://schemas.microsoft.com/office/drawing/2014/main" id="{E57AD855-5E44-0677-09DA-0407C7021348}"/>
              </a:ext>
            </a:extLst>
          </p:cNvPr>
          <p:cNvSpPr>
            <a:spLocks noGrp="1"/>
          </p:cNvSpPr>
          <p:nvPr>
            <p:ph type="body" idx="1"/>
          </p:nvPr>
        </p:nvSpPr>
        <p:spPr>
          <a:xfrm>
            <a:off x="381737" y="1047750"/>
            <a:ext cx="8380526" cy="3317875"/>
          </a:xfrm>
        </p:spPr>
        <p:txBody>
          <a:bodyPr/>
          <a:lstStyle/>
          <a:p>
            <a:endParaRPr lang="en-IN" dirty="0"/>
          </a:p>
        </p:txBody>
      </p:sp>
      <p:pic>
        <p:nvPicPr>
          <p:cNvPr id="7" name="Picture 6">
            <a:extLst>
              <a:ext uri="{FF2B5EF4-FFF2-40B4-BE49-F238E27FC236}">
                <a16:creationId xmlns:a16="http://schemas.microsoft.com/office/drawing/2014/main" id="{9CCD50A3-FF58-FD4B-8E00-8519EC4CA2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968" y="1006610"/>
            <a:ext cx="8686063" cy="4136890"/>
          </a:xfrm>
          <a:prstGeom prst="rect">
            <a:avLst/>
          </a:prstGeom>
        </p:spPr>
      </p:pic>
    </p:spTree>
    <p:extLst>
      <p:ext uri="{BB962C8B-B14F-4D97-AF65-F5344CB8AC3E}">
        <p14:creationId xmlns:p14="http://schemas.microsoft.com/office/powerpoint/2010/main" val="32578987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BB208-6279-DF88-9024-D921F737BA40}"/>
              </a:ext>
            </a:extLst>
          </p:cNvPr>
          <p:cNvSpPr>
            <a:spLocks noGrp="1"/>
          </p:cNvSpPr>
          <p:nvPr>
            <p:ph type="title"/>
          </p:nvPr>
        </p:nvSpPr>
        <p:spPr>
          <a:xfrm>
            <a:off x="2362200" y="391541"/>
            <a:ext cx="4038600" cy="413004"/>
          </a:xfrm>
        </p:spPr>
        <p:txBody>
          <a:bodyPr/>
          <a:lstStyle/>
          <a:p>
            <a:r>
              <a:rPr lang="en-IN" dirty="0"/>
              <a:t>Successful Registration</a:t>
            </a:r>
          </a:p>
        </p:txBody>
      </p:sp>
      <p:sp>
        <p:nvSpPr>
          <p:cNvPr id="3" name="Text Placeholder 2">
            <a:extLst>
              <a:ext uri="{FF2B5EF4-FFF2-40B4-BE49-F238E27FC236}">
                <a16:creationId xmlns:a16="http://schemas.microsoft.com/office/drawing/2014/main" id="{D8ABBB7A-A819-676C-E524-24CE575A33BD}"/>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773B4972-DD62-31E1-7F55-D2C3AC2914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736" y="1227582"/>
            <a:ext cx="8457464" cy="3690354"/>
          </a:xfrm>
          <a:prstGeom prst="rect">
            <a:avLst/>
          </a:prstGeom>
        </p:spPr>
      </p:pic>
    </p:spTree>
    <p:extLst>
      <p:ext uri="{BB962C8B-B14F-4D97-AF65-F5344CB8AC3E}">
        <p14:creationId xmlns:p14="http://schemas.microsoft.com/office/powerpoint/2010/main" val="41646717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9F5AA-1908-8B7C-5E03-F770414D1A8A}"/>
              </a:ext>
            </a:extLst>
          </p:cNvPr>
          <p:cNvSpPr>
            <a:spLocks noGrp="1"/>
          </p:cNvSpPr>
          <p:nvPr>
            <p:ph type="title"/>
          </p:nvPr>
        </p:nvSpPr>
        <p:spPr>
          <a:xfrm>
            <a:off x="3276600" y="73622"/>
            <a:ext cx="3048000" cy="369332"/>
          </a:xfrm>
        </p:spPr>
        <p:txBody>
          <a:bodyPr/>
          <a:lstStyle/>
          <a:p>
            <a:r>
              <a:rPr lang="en-IN" dirty="0"/>
              <a:t>Login New User</a:t>
            </a:r>
          </a:p>
        </p:txBody>
      </p:sp>
      <p:sp>
        <p:nvSpPr>
          <p:cNvPr id="3" name="Text Placeholder 2">
            <a:extLst>
              <a:ext uri="{FF2B5EF4-FFF2-40B4-BE49-F238E27FC236}">
                <a16:creationId xmlns:a16="http://schemas.microsoft.com/office/drawing/2014/main" id="{BEC7BEF1-7BB0-9C08-4882-5BA8E43A4586}"/>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CF75E440-7540-C17E-AF42-B79BA098B2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736" y="1151622"/>
            <a:ext cx="8380526" cy="3393835"/>
          </a:xfrm>
          <a:prstGeom prst="rect">
            <a:avLst/>
          </a:prstGeom>
        </p:spPr>
      </p:pic>
    </p:spTree>
    <p:extLst>
      <p:ext uri="{BB962C8B-B14F-4D97-AF65-F5344CB8AC3E}">
        <p14:creationId xmlns:p14="http://schemas.microsoft.com/office/powerpoint/2010/main" val="20324121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E7178-F7BF-7E05-F4F6-FA7262919A95}"/>
              </a:ext>
            </a:extLst>
          </p:cNvPr>
          <p:cNvSpPr>
            <a:spLocks noGrp="1"/>
          </p:cNvSpPr>
          <p:nvPr>
            <p:ph type="title"/>
          </p:nvPr>
        </p:nvSpPr>
        <p:spPr>
          <a:xfrm>
            <a:off x="3009899" y="598043"/>
            <a:ext cx="3124200" cy="369332"/>
          </a:xfrm>
        </p:spPr>
        <p:txBody>
          <a:bodyPr/>
          <a:lstStyle/>
          <a:p>
            <a:r>
              <a:rPr lang="en-IN" dirty="0"/>
              <a:t>Successful login </a:t>
            </a:r>
          </a:p>
        </p:txBody>
      </p:sp>
      <p:sp>
        <p:nvSpPr>
          <p:cNvPr id="3" name="Text Placeholder 2">
            <a:extLst>
              <a:ext uri="{FF2B5EF4-FFF2-40B4-BE49-F238E27FC236}">
                <a16:creationId xmlns:a16="http://schemas.microsoft.com/office/drawing/2014/main" id="{1473146D-9420-4BD2-82A9-547CD84E7F30}"/>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74D498CA-5A4C-B84C-1D2E-ADD4950FE3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736" y="1227582"/>
            <a:ext cx="8380526" cy="3462728"/>
          </a:xfrm>
          <a:prstGeom prst="rect">
            <a:avLst/>
          </a:prstGeom>
        </p:spPr>
      </p:pic>
    </p:spTree>
    <p:extLst>
      <p:ext uri="{BB962C8B-B14F-4D97-AF65-F5344CB8AC3E}">
        <p14:creationId xmlns:p14="http://schemas.microsoft.com/office/powerpoint/2010/main" val="19886916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BCD44-1081-2335-1722-6FEB583039B8}"/>
              </a:ext>
            </a:extLst>
          </p:cNvPr>
          <p:cNvSpPr>
            <a:spLocks noGrp="1"/>
          </p:cNvSpPr>
          <p:nvPr>
            <p:ph type="title"/>
          </p:nvPr>
        </p:nvSpPr>
        <p:spPr>
          <a:xfrm>
            <a:off x="3124199" y="413377"/>
            <a:ext cx="2895600" cy="369332"/>
          </a:xfrm>
        </p:spPr>
        <p:txBody>
          <a:bodyPr/>
          <a:lstStyle/>
          <a:p>
            <a:r>
              <a:rPr lang="en-IN" dirty="0"/>
              <a:t>Updated </a:t>
            </a:r>
            <a:r>
              <a:rPr lang="en-IN" dirty="0" err="1"/>
              <a:t>DataBase</a:t>
            </a:r>
            <a:endParaRPr lang="en-IN" dirty="0"/>
          </a:p>
        </p:txBody>
      </p:sp>
      <p:sp>
        <p:nvSpPr>
          <p:cNvPr id="3" name="Text Placeholder 2">
            <a:extLst>
              <a:ext uri="{FF2B5EF4-FFF2-40B4-BE49-F238E27FC236}">
                <a16:creationId xmlns:a16="http://schemas.microsoft.com/office/drawing/2014/main" id="{1DB524BA-A4F3-CC48-5D27-55E5152A7017}"/>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1F710714-E065-77A3-C324-BAE6E1A8EF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4680" y="1227582"/>
            <a:ext cx="8380525" cy="3477768"/>
          </a:xfrm>
          <a:prstGeom prst="rect">
            <a:avLst/>
          </a:prstGeom>
        </p:spPr>
      </p:pic>
    </p:spTree>
    <p:extLst>
      <p:ext uri="{BB962C8B-B14F-4D97-AF65-F5344CB8AC3E}">
        <p14:creationId xmlns:p14="http://schemas.microsoft.com/office/powerpoint/2010/main" val="4443408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162</TotalTime>
  <Words>1169</Words>
  <Application>Microsoft Office PowerPoint</Application>
  <PresentationFormat>On-screen Show (16:9)</PresentationFormat>
  <Paragraphs>127</Paragraphs>
  <Slides>32</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Aptos</vt:lpstr>
      <vt:lpstr>Arial</vt:lpstr>
      <vt:lpstr>Arial MT</vt:lpstr>
      <vt:lpstr>Arial Unicode MS</vt:lpstr>
      <vt:lpstr>Calibri</vt:lpstr>
      <vt:lpstr>Ebrima</vt:lpstr>
      <vt:lpstr>Times New Roman</vt:lpstr>
      <vt:lpstr>Wingdings</vt:lpstr>
      <vt:lpstr>Office Theme</vt:lpstr>
      <vt:lpstr>EMPLOYEE MANAGEMENT SYSTEM</vt:lpstr>
      <vt:lpstr>INTRODUCTION</vt:lpstr>
      <vt:lpstr>ABSTRAT</vt:lpstr>
      <vt:lpstr>What we are going to build: Client Requirement</vt:lpstr>
      <vt:lpstr>What we are going to build: Some technical terms.</vt:lpstr>
      <vt:lpstr>What are the technologies and tools we are going use ?</vt:lpstr>
      <vt:lpstr>SYSTEM REQUIREMENTS</vt:lpstr>
      <vt:lpstr>PROJECT MODULE</vt:lpstr>
      <vt:lpstr>ER DIAGRAM</vt:lpstr>
      <vt:lpstr>Client – Server Architecture</vt:lpstr>
      <vt:lpstr>Dao Layer</vt:lpstr>
      <vt:lpstr>Identity &amp; Security Module</vt:lpstr>
      <vt:lpstr>Employee Core Module</vt:lpstr>
      <vt:lpstr>Validation &amp; Exception Module </vt:lpstr>
      <vt:lpstr>AOP Logging &amp; Audit Module</vt:lpstr>
      <vt:lpstr>Infrastructure &amp; Documentation Module</vt:lpstr>
      <vt:lpstr>DATA DICTIONARY</vt:lpstr>
      <vt:lpstr>TABLES OF DATABASE</vt:lpstr>
      <vt:lpstr>ADMIN DATABASE</vt:lpstr>
      <vt:lpstr>DATABASE CODE</vt:lpstr>
      <vt:lpstr>USER DATABASE TABLE</vt:lpstr>
      <vt:lpstr>Spring Boot Application Running</vt:lpstr>
      <vt:lpstr>Login Form</vt:lpstr>
      <vt:lpstr>Main Interface</vt:lpstr>
      <vt:lpstr>Adding New Employee</vt:lpstr>
      <vt:lpstr>Updated Employee Details</vt:lpstr>
      <vt:lpstr>System User Management</vt:lpstr>
      <vt:lpstr>Register New Login</vt:lpstr>
      <vt:lpstr>Successful Registration</vt:lpstr>
      <vt:lpstr>Login New User</vt:lpstr>
      <vt:lpstr>Successful login </vt:lpstr>
      <vt:lpstr>Updated DataBase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SATHISH REDDY</dc:creator>
  <cp:lastModifiedBy>vaishnavi balu</cp:lastModifiedBy>
  <cp:revision>19</cp:revision>
  <dcterms:created xsi:type="dcterms:W3CDTF">2025-12-18T08:55:25Z</dcterms:created>
  <dcterms:modified xsi:type="dcterms:W3CDTF">2025-12-18T11:43:24Z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2022-07-27T00:00:00Z</vt:filetime>
  </property>
  <property fmtid="{D5CDD505-2E9C-101B-9397-08002B2CF9AE}" pid="3" name="Creator">
    <vt:lpwstr>Microsoft® PowerPoint® 2010</vt:lpwstr>
  </property>
  <property fmtid="{D5CDD505-2E9C-101B-9397-08002B2CF9AE}" pid="4" name="LastSaved">
    <vt:filetime>2025-12-18T00:00:00Z</vt:filetime>
  </property>
  <property fmtid="{D5CDD505-2E9C-101B-9397-08002B2CF9AE}" pid="5" name="Producer">
    <vt:lpwstr>Microsoft® PowerPoint® 2010</vt:lpwstr>
  </property>
</Properties>
</file>